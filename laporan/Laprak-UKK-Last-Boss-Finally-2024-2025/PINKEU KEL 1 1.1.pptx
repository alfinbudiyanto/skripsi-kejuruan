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3" r:id="rId5"/>
    <p:sldId id="258" r:id="rId6"/>
    <p:sldId id="273" r:id="rId7"/>
    <p:sldId id="274" r:id="rId8"/>
    <p:sldId id="264" r:id="rId9"/>
    <p:sldId id="275" r:id="rId10"/>
    <p:sldId id="265" r:id="rId11"/>
    <p:sldId id="266" r:id="rId12"/>
    <p:sldId id="276" r:id="rId13"/>
    <p:sldId id="269" r:id="rId14"/>
    <p:sldId id="270" r:id="rId15"/>
    <p:sldId id="271" r:id="rId16"/>
    <p:sldId id="272" r:id="rId17"/>
  </p:sldIdLst>
  <p:sldSz cx="18288000" cy="10287000"/>
  <p:notesSz cx="6858000" cy="9144000"/>
  <p:embeddedFontLst>
    <p:embeddedFont>
      <p:font typeface="Poppins" panose="020B0604020202020204" charset="0"/>
      <p:regular r:id="rId18"/>
      <p:bold r:id="rId19"/>
    </p:embeddedFont>
    <p:embeddedFont>
      <p:font typeface="Amasis MT Pro Black" panose="020B0604020202020204" charset="0"/>
      <p:bold r:id="rId20"/>
      <p:boldItalic r:id="rId21"/>
    </p:embeddedFont>
    <p:embeddedFont>
      <p:font typeface="EFCO Brookshire" panose="020B0604020202020204" charset="0"/>
      <p:regular r:id="rId22"/>
    </p:embeddedFont>
    <p:embeddedFont>
      <p:font typeface="Trade Gothic Next HvyCd" panose="020B0604020202020204" charset="0"/>
      <p:bold r:id="rId23"/>
      <p:boldItalic r:id="rId24"/>
    </p:embeddedFont>
    <p:embeddedFont>
      <p:font typeface="Trade Gothic Next Heavy" panose="020B0604020202020204" charset="0"/>
      <p:bold r:id="rId25"/>
      <p:boldItalic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Franklin Gothic Heavy" panose="020B0903020102020204" pitchFamily="34" charset="0"/>
      <p:regular r:id="rId31"/>
      <p: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091F"/>
    <a:srgbClr val="B46D50"/>
    <a:srgbClr val="AE4848"/>
    <a:srgbClr val="B513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400" autoAdjust="0"/>
  </p:normalViewPr>
  <p:slideViewPr>
    <p:cSldViewPr>
      <p:cViewPr varScale="1">
        <p:scale>
          <a:sx n="52" d="100"/>
          <a:sy n="52" d="100"/>
        </p:scale>
        <p:origin x="19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4.sv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86546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10188348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-3006407" y="-3159170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0"/>
                </a:moveTo>
                <a:lnTo>
                  <a:pt x="7610491" y="0"/>
                </a:lnTo>
                <a:lnTo>
                  <a:pt x="7610491" y="6877116"/>
                </a:lnTo>
                <a:lnTo>
                  <a:pt x="0" y="68771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 rot="-6051617" flipV="1">
            <a:off x="14482755" y="6251447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6877115"/>
                </a:moveTo>
                <a:lnTo>
                  <a:pt x="7610490" y="6877115"/>
                </a:lnTo>
                <a:lnTo>
                  <a:pt x="7610490" y="0"/>
                </a:lnTo>
                <a:lnTo>
                  <a:pt x="0" y="0"/>
                </a:lnTo>
                <a:lnTo>
                  <a:pt x="0" y="687711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703931" y="279388"/>
            <a:ext cx="16899704" cy="9648195"/>
          </a:xfrm>
          <a:custGeom>
            <a:avLst/>
            <a:gdLst/>
            <a:ahLst/>
            <a:cxnLst/>
            <a:rect l="l" t="t" r="r" b="b"/>
            <a:pathLst>
              <a:path w="16899704" h="9648195">
                <a:moveTo>
                  <a:pt x="0" y="0"/>
                </a:moveTo>
                <a:lnTo>
                  <a:pt x="16899704" y="0"/>
                </a:lnTo>
                <a:lnTo>
                  <a:pt x="16899704" y="9648195"/>
                </a:lnTo>
                <a:lnTo>
                  <a:pt x="0" y="96481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TextBox 7"/>
          <p:cNvSpPr txBox="1"/>
          <p:nvPr/>
        </p:nvSpPr>
        <p:spPr>
          <a:xfrm>
            <a:off x="3139424" y="2324100"/>
            <a:ext cx="12028718" cy="656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s-ES" sz="6000" b="1" dirty="0">
                <a:solidFill>
                  <a:schemeClr val="accent2">
                    <a:lumMod val="75000"/>
                  </a:schemeClr>
                </a:solidFill>
              </a:rPr>
              <a:t>LAPORAN AKHIR </a:t>
            </a:r>
            <a:endParaRPr lang="en-ID" sz="6000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es-ES" sz="6000" b="1" dirty="0">
                <a:solidFill>
                  <a:schemeClr val="accent2">
                    <a:lumMod val="75000"/>
                  </a:schemeClr>
                </a:solidFill>
              </a:rPr>
              <a:t>MEMBANGUN JARINGAN INTERNET SEHAT DENGAN MIKROTIK RB951 SEBAGAI UPAYA UNTUK MANAJEMEN SISTEM KEAMANAN JARINGAN DI SMK MUHAMMADIYAH BANDONGAN</a:t>
            </a:r>
            <a:endParaRPr lang="en-ID" sz="6000" dirty="0">
              <a:solidFill>
                <a:schemeClr val="accent2">
                  <a:lumMod val="75000"/>
                </a:schemeClr>
              </a:solidFill>
            </a:endParaRPr>
          </a:p>
          <a:p>
            <a:pPr algn="ctr">
              <a:lnSpc>
                <a:spcPts val="8014"/>
              </a:lnSpc>
            </a:pPr>
            <a:endParaRPr lang="en-US" sz="5724" spc="-120" dirty="0">
              <a:solidFill>
                <a:srgbClr val="F9AABB"/>
              </a:solidFill>
              <a:latin typeface="EFCO Brookshire"/>
              <a:ea typeface="EFCO Brookshire"/>
              <a:cs typeface="EFCO Brookshire"/>
              <a:sym typeface="EFCO Brookshir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5962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2" y="0"/>
                </a:lnTo>
                <a:lnTo>
                  <a:pt x="13194772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10188348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 rot="-1879893" flipH="1">
            <a:off x="13427709" y="787168"/>
            <a:ext cx="2525047" cy="3588569"/>
          </a:xfrm>
          <a:custGeom>
            <a:avLst/>
            <a:gdLst/>
            <a:ahLst/>
            <a:cxnLst/>
            <a:rect l="l" t="t" r="r" b="b"/>
            <a:pathLst>
              <a:path w="2525047" h="3588569">
                <a:moveTo>
                  <a:pt x="2525048" y="0"/>
                </a:moveTo>
                <a:lnTo>
                  <a:pt x="0" y="0"/>
                </a:lnTo>
                <a:lnTo>
                  <a:pt x="0" y="3588569"/>
                </a:lnTo>
                <a:lnTo>
                  <a:pt x="2525048" y="3588569"/>
                </a:lnTo>
                <a:lnTo>
                  <a:pt x="252504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TextBox 5"/>
          <p:cNvSpPr txBox="1"/>
          <p:nvPr/>
        </p:nvSpPr>
        <p:spPr>
          <a:xfrm>
            <a:off x="1776897" y="1712868"/>
            <a:ext cx="10901913" cy="1746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16"/>
              </a:lnSpc>
            </a:pPr>
            <a:r>
              <a:rPr lang="en-US" sz="13596" spc="-285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latar</a:t>
            </a:r>
            <a:r>
              <a:rPr lang="en-US" sz="13596" spc="-285" dirty="0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 </a:t>
            </a:r>
            <a:r>
              <a:rPr lang="en-US" sz="13596" spc="-285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belakang</a:t>
            </a:r>
            <a:endParaRPr lang="en-US" sz="13596" spc="-285" dirty="0">
              <a:solidFill>
                <a:srgbClr val="F9AABB"/>
              </a:solidFill>
              <a:latin typeface="EFCO Brookshire"/>
              <a:ea typeface="EFCO Brookshire"/>
              <a:cs typeface="EFCO Brookshire"/>
              <a:sym typeface="EFCO Brookshire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770248" y="4171241"/>
            <a:ext cx="15406422" cy="5250706"/>
            <a:chOff x="0" y="0"/>
            <a:chExt cx="4057659" cy="13829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57659" cy="1382902"/>
            </a:xfrm>
            <a:custGeom>
              <a:avLst/>
              <a:gdLst/>
              <a:ahLst/>
              <a:cxnLst/>
              <a:rect l="l" t="t" r="r" b="b"/>
              <a:pathLst>
                <a:path w="4057659" h="1382902">
                  <a:moveTo>
                    <a:pt x="15578" y="0"/>
                  </a:moveTo>
                  <a:lnTo>
                    <a:pt x="4042081" y="0"/>
                  </a:lnTo>
                  <a:cubicBezTo>
                    <a:pt x="4046212" y="0"/>
                    <a:pt x="4050174" y="1641"/>
                    <a:pt x="4053096" y="4563"/>
                  </a:cubicBezTo>
                  <a:cubicBezTo>
                    <a:pt x="4056017" y="7484"/>
                    <a:pt x="4057659" y="11446"/>
                    <a:pt x="4057659" y="15578"/>
                  </a:cubicBezTo>
                  <a:lnTo>
                    <a:pt x="4057659" y="1367324"/>
                  </a:lnTo>
                  <a:cubicBezTo>
                    <a:pt x="4057659" y="1371456"/>
                    <a:pt x="4056017" y="1375418"/>
                    <a:pt x="4053096" y="1378340"/>
                  </a:cubicBezTo>
                  <a:cubicBezTo>
                    <a:pt x="4050174" y="1381261"/>
                    <a:pt x="4046212" y="1382902"/>
                    <a:pt x="4042081" y="1382902"/>
                  </a:cubicBezTo>
                  <a:lnTo>
                    <a:pt x="15578" y="1382902"/>
                  </a:lnTo>
                  <a:cubicBezTo>
                    <a:pt x="11446" y="1382902"/>
                    <a:pt x="7484" y="1381261"/>
                    <a:pt x="4563" y="1378340"/>
                  </a:cubicBezTo>
                  <a:cubicBezTo>
                    <a:pt x="1641" y="1375418"/>
                    <a:pt x="0" y="1371456"/>
                    <a:pt x="0" y="1367324"/>
                  </a:cubicBezTo>
                  <a:lnTo>
                    <a:pt x="0" y="15578"/>
                  </a:lnTo>
                  <a:cubicBezTo>
                    <a:pt x="0" y="11446"/>
                    <a:pt x="1641" y="7484"/>
                    <a:pt x="4563" y="4563"/>
                  </a:cubicBezTo>
                  <a:cubicBezTo>
                    <a:pt x="7484" y="1641"/>
                    <a:pt x="11446" y="0"/>
                    <a:pt x="15578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057659" cy="1440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001463" y="4472089"/>
            <a:ext cx="14943992" cy="4719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77"/>
              </a:lnSpc>
            </a:pP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Di era digital,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jaringan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komputer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penting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di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berbagai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sektor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.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Siswa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Teknik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Jaringan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Komputer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dan Telekomunikasi (TJKT)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perlu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menguasai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konfigurasi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perangkat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jaringan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seperti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MikroTik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.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MikroTik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digunakan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untuk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mengatur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lalu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lintas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jaringan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kebijakan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keamanan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, dan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mengoptimalkan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kinerja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internet.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Ujian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Kompetensi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Keahlian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(UKK)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menguji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kemampuan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siswa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dalam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konfigurasi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dan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keamanan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jaringan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.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Laporan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ini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mendokumentasikan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kegiatan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UKK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sebagai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persiapan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siswa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menghadapi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tantangan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di dunia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kerja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5962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2" y="0"/>
                </a:lnTo>
                <a:lnTo>
                  <a:pt x="13194772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10188348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 rot="-5085271">
            <a:off x="-2989403" y="5361098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0"/>
                </a:moveTo>
                <a:lnTo>
                  <a:pt x="7610491" y="0"/>
                </a:lnTo>
                <a:lnTo>
                  <a:pt x="7610491" y="6877116"/>
                </a:lnTo>
                <a:lnTo>
                  <a:pt x="0" y="68771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 rot="-6051617" flipV="1">
            <a:off x="14007855" y="5420410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6877116"/>
                </a:moveTo>
                <a:lnTo>
                  <a:pt x="7610490" y="6877116"/>
                </a:lnTo>
                <a:lnTo>
                  <a:pt x="7610490" y="0"/>
                </a:lnTo>
                <a:lnTo>
                  <a:pt x="0" y="0"/>
                </a:lnTo>
                <a:lnTo>
                  <a:pt x="0" y="68771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6" name="Group 6"/>
          <p:cNvGrpSpPr/>
          <p:nvPr/>
        </p:nvGrpSpPr>
        <p:grpSpPr>
          <a:xfrm>
            <a:off x="1365720" y="4326268"/>
            <a:ext cx="3810440" cy="3258539"/>
            <a:chOff x="0" y="0"/>
            <a:chExt cx="1003573" cy="8582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03573" cy="858216"/>
            </a:xfrm>
            <a:custGeom>
              <a:avLst/>
              <a:gdLst/>
              <a:ahLst/>
              <a:cxnLst/>
              <a:rect l="l" t="t" r="r" b="b"/>
              <a:pathLst>
                <a:path w="1003573" h="858216">
                  <a:moveTo>
                    <a:pt x="67048" y="0"/>
                  </a:moveTo>
                  <a:lnTo>
                    <a:pt x="936524" y="0"/>
                  </a:lnTo>
                  <a:cubicBezTo>
                    <a:pt x="954307" y="0"/>
                    <a:pt x="971361" y="7064"/>
                    <a:pt x="983935" y="19638"/>
                  </a:cubicBezTo>
                  <a:cubicBezTo>
                    <a:pt x="996509" y="32212"/>
                    <a:pt x="1003573" y="49266"/>
                    <a:pt x="1003573" y="67048"/>
                  </a:cubicBezTo>
                  <a:lnTo>
                    <a:pt x="1003573" y="791168"/>
                  </a:lnTo>
                  <a:cubicBezTo>
                    <a:pt x="1003573" y="808950"/>
                    <a:pt x="996509" y="826004"/>
                    <a:pt x="983935" y="838578"/>
                  </a:cubicBezTo>
                  <a:cubicBezTo>
                    <a:pt x="971361" y="851152"/>
                    <a:pt x="954307" y="858216"/>
                    <a:pt x="936524" y="858216"/>
                  </a:cubicBezTo>
                  <a:lnTo>
                    <a:pt x="67048" y="858216"/>
                  </a:lnTo>
                  <a:cubicBezTo>
                    <a:pt x="49266" y="858216"/>
                    <a:pt x="32212" y="851152"/>
                    <a:pt x="19638" y="838578"/>
                  </a:cubicBezTo>
                  <a:cubicBezTo>
                    <a:pt x="7064" y="826004"/>
                    <a:pt x="0" y="808950"/>
                    <a:pt x="0" y="791168"/>
                  </a:cubicBezTo>
                  <a:lnTo>
                    <a:pt x="0" y="67048"/>
                  </a:lnTo>
                  <a:cubicBezTo>
                    <a:pt x="0" y="49266"/>
                    <a:pt x="7064" y="32212"/>
                    <a:pt x="19638" y="19638"/>
                  </a:cubicBezTo>
                  <a:cubicBezTo>
                    <a:pt x="32212" y="7064"/>
                    <a:pt x="49266" y="0"/>
                    <a:pt x="67048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003573" cy="915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935945" y="4281481"/>
            <a:ext cx="3810440" cy="3258539"/>
            <a:chOff x="0" y="0"/>
            <a:chExt cx="1003573" cy="85821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03573" cy="858216"/>
            </a:xfrm>
            <a:custGeom>
              <a:avLst/>
              <a:gdLst/>
              <a:ahLst/>
              <a:cxnLst/>
              <a:rect l="l" t="t" r="r" b="b"/>
              <a:pathLst>
                <a:path w="1003573" h="858216">
                  <a:moveTo>
                    <a:pt x="67048" y="0"/>
                  </a:moveTo>
                  <a:lnTo>
                    <a:pt x="936524" y="0"/>
                  </a:lnTo>
                  <a:cubicBezTo>
                    <a:pt x="954307" y="0"/>
                    <a:pt x="971361" y="7064"/>
                    <a:pt x="983935" y="19638"/>
                  </a:cubicBezTo>
                  <a:cubicBezTo>
                    <a:pt x="996509" y="32212"/>
                    <a:pt x="1003573" y="49266"/>
                    <a:pt x="1003573" y="67048"/>
                  </a:cubicBezTo>
                  <a:lnTo>
                    <a:pt x="1003573" y="791168"/>
                  </a:lnTo>
                  <a:cubicBezTo>
                    <a:pt x="1003573" y="808950"/>
                    <a:pt x="996509" y="826004"/>
                    <a:pt x="983935" y="838578"/>
                  </a:cubicBezTo>
                  <a:cubicBezTo>
                    <a:pt x="971361" y="851152"/>
                    <a:pt x="954307" y="858216"/>
                    <a:pt x="936524" y="858216"/>
                  </a:cubicBezTo>
                  <a:lnTo>
                    <a:pt x="67048" y="858216"/>
                  </a:lnTo>
                  <a:cubicBezTo>
                    <a:pt x="49266" y="858216"/>
                    <a:pt x="32212" y="851152"/>
                    <a:pt x="19638" y="838578"/>
                  </a:cubicBezTo>
                  <a:cubicBezTo>
                    <a:pt x="7064" y="826004"/>
                    <a:pt x="0" y="808950"/>
                    <a:pt x="0" y="791168"/>
                  </a:cubicBezTo>
                  <a:lnTo>
                    <a:pt x="0" y="67048"/>
                  </a:lnTo>
                  <a:cubicBezTo>
                    <a:pt x="0" y="49266"/>
                    <a:pt x="7064" y="32212"/>
                    <a:pt x="19638" y="19638"/>
                  </a:cubicBezTo>
                  <a:cubicBezTo>
                    <a:pt x="32212" y="7064"/>
                    <a:pt x="49266" y="0"/>
                    <a:pt x="67048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003573" cy="915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652534" y="4326268"/>
            <a:ext cx="3810440" cy="3258539"/>
            <a:chOff x="0" y="0"/>
            <a:chExt cx="1003573" cy="85821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03573" cy="858216"/>
            </a:xfrm>
            <a:custGeom>
              <a:avLst/>
              <a:gdLst/>
              <a:ahLst/>
              <a:cxnLst/>
              <a:rect l="l" t="t" r="r" b="b"/>
              <a:pathLst>
                <a:path w="1003573" h="858216">
                  <a:moveTo>
                    <a:pt x="67048" y="0"/>
                  </a:moveTo>
                  <a:lnTo>
                    <a:pt x="936524" y="0"/>
                  </a:lnTo>
                  <a:cubicBezTo>
                    <a:pt x="954307" y="0"/>
                    <a:pt x="971361" y="7064"/>
                    <a:pt x="983935" y="19638"/>
                  </a:cubicBezTo>
                  <a:cubicBezTo>
                    <a:pt x="996509" y="32212"/>
                    <a:pt x="1003573" y="49266"/>
                    <a:pt x="1003573" y="67048"/>
                  </a:cubicBezTo>
                  <a:lnTo>
                    <a:pt x="1003573" y="791168"/>
                  </a:lnTo>
                  <a:cubicBezTo>
                    <a:pt x="1003573" y="808950"/>
                    <a:pt x="996509" y="826004"/>
                    <a:pt x="983935" y="838578"/>
                  </a:cubicBezTo>
                  <a:cubicBezTo>
                    <a:pt x="971361" y="851152"/>
                    <a:pt x="954307" y="858216"/>
                    <a:pt x="936524" y="858216"/>
                  </a:cubicBezTo>
                  <a:lnTo>
                    <a:pt x="67048" y="858216"/>
                  </a:lnTo>
                  <a:cubicBezTo>
                    <a:pt x="49266" y="858216"/>
                    <a:pt x="32212" y="851152"/>
                    <a:pt x="19638" y="838578"/>
                  </a:cubicBezTo>
                  <a:cubicBezTo>
                    <a:pt x="7064" y="826004"/>
                    <a:pt x="0" y="808950"/>
                    <a:pt x="0" y="791168"/>
                  </a:cubicBezTo>
                  <a:lnTo>
                    <a:pt x="0" y="67048"/>
                  </a:lnTo>
                  <a:cubicBezTo>
                    <a:pt x="0" y="49266"/>
                    <a:pt x="7064" y="32212"/>
                    <a:pt x="19638" y="19638"/>
                  </a:cubicBezTo>
                  <a:cubicBezTo>
                    <a:pt x="32212" y="7064"/>
                    <a:pt x="49266" y="0"/>
                    <a:pt x="67048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003573" cy="915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0" y="403345"/>
            <a:ext cx="7315200" cy="2040721"/>
          </a:xfrm>
          <a:custGeom>
            <a:avLst/>
            <a:gdLst/>
            <a:ahLst/>
            <a:cxnLst/>
            <a:rect l="l" t="t" r="r" b="b"/>
            <a:pathLst>
              <a:path w="7315200" h="2040721">
                <a:moveTo>
                  <a:pt x="0" y="0"/>
                </a:moveTo>
                <a:lnTo>
                  <a:pt x="7315200" y="0"/>
                </a:lnTo>
                <a:lnTo>
                  <a:pt x="7315200" y="2040721"/>
                </a:lnTo>
                <a:lnTo>
                  <a:pt x="0" y="20407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6" name="TextBox 16"/>
          <p:cNvSpPr txBox="1"/>
          <p:nvPr/>
        </p:nvSpPr>
        <p:spPr>
          <a:xfrm>
            <a:off x="815842" y="1487344"/>
            <a:ext cx="15483824" cy="1902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84"/>
              </a:lnSpc>
            </a:pPr>
            <a:r>
              <a:rPr lang="en-US" sz="13596" spc="-285" dirty="0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 </a:t>
            </a:r>
            <a:r>
              <a:rPr lang="en-US" sz="13596" spc="-285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Rumusan</a:t>
            </a:r>
            <a:r>
              <a:rPr lang="en-US" sz="13596" spc="-285" dirty="0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 </a:t>
            </a:r>
            <a:r>
              <a:rPr lang="en-US" sz="13596" spc="-285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Masalah</a:t>
            </a:r>
            <a:endParaRPr lang="en-US" sz="13596" spc="-285" dirty="0">
              <a:solidFill>
                <a:srgbClr val="F9AABB"/>
              </a:solidFill>
              <a:latin typeface="EFCO Brookshire"/>
              <a:ea typeface="EFCO Brookshire"/>
              <a:cs typeface="EFCO Brookshire"/>
              <a:sym typeface="EFCO Brookshire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480488" y="5336905"/>
            <a:ext cx="3580903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/>
            <a:r>
              <a:rPr lang="en-US" sz="3200" b="1" dirty="0" smtClean="0">
                <a:solidFill>
                  <a:srgbClr val="56091F"/>
                </a:solidFill>
              </a:rPr>
              <a:t>1. </a:t>
            </a:r>
            <a:r>
              <a:rPr lang="en-US" sz="3200" b="1" dirty="0" err="1" smtClean="0">
                <a:solidFill>
                  <a:srgbClr val="56091F"/>
                </a:solidFill>
              </a:rPr>
              <a:t>Bagaimana</a:t>
            </a:r>
            <a:r>
              <a:rPr lang="en-US" sz="3200" b="1" dirty="0" smtClean="0">
                <a:solidFill>
                  <a:srgbClr val="56091F"/>
                </a:solidFill>
              </a:rPr>
              <a:t> </a:t>
            </a:r>
            <a:r>
              <a:rPr lang="en-US" sz="3200" b="1" dirty="0" err="1">
                <a:solidFill>
                  <a:srgbClr val="56091F"/>
                </a:solidFill>
              </a:rPr>
              <a:t>siswa</a:t>
            </a:r>
            <a:r>
              <a:rPr lang="en-US" sz="3200" b="1" dirty="0">
                <a:solidFill>
                  <a:srgbClr val="56091F"/>
                </a:solidFill>
              </a:rPr>
              <a:t> </a:t>
            </a:r>
            <a:r>
              <a:rPr lang="en-US" sz="3200" b="1" dirty="0" err="1">
                <a:solidFill>
                  <a:srgbClr val="56091F"/>
                </a:solidFill>
              </a:rPr>
              <a:t>dapat</a:t>
            </a:r>
            <a:r>
              <a:rPr lang="en-US" sz="3200" b="1" dirty="0">
                <a:solidFill>
                  <a:srgbClr val="56091F"/>
                </a:solidFill>
              </a:rPr>
              <a:t> </a:t>
            </a:r>
            <a:r>
              <a:rPr lang="en-US" sz="3200" b="1" dirty="0" err="1">
                <a:solidFill>
                  <a:srgbClr val="56091F"/>
                </a:solidFill>
              </a:rPr>
              <a:t>memblokir</a:t>
            </a:r>
            <a:r>
              <a:rPr lang="en-US" sz="3200" b="1" dirty="0">
                <a:solidFill>
                  <a:srgbClr val="56091F"/>
                </a:solidFill>
              </a:rPr>
              <a:t> </a:t>
            </a:r>
            <a:r>
              <a:rPr lang="en-US" sz="3200" b="1" dirty="0" err="1">
                <a:solidFill>
                  <a:srgbClr val="56091F"/>
                </a:solidFill>
              </a:rPr>
              <a:t>suatu</a:t>
            </a:r>
            <a:r>
              <a:rPr lang="en-US" sz="3200" b="1" dirty="0">
                <a:solidFill>
                  <a:srgbClr val="56091F"/>
                </a:solidFill>
              </a:rPr>
              <a:t> situs </a:t>
            </a:r>
            <a:r>
              <a:rPr lang="en-US" sz="3200" b="1" dirty="0" err="1">
                <a:solidFill>
                  <a:srgbClr val="56091F"/>
                </a:solidFill>
              </a:rPr>
              <a:t>tertentu</a:t>
            </a:r>
            <a:r>
              <a:rPr lang="en-US" sz="3200" b="1" dirty="0">
                <a:solidFill>
                  <a:srgbClr val="56091F"/>
                </a:solidFill>
              </a:rPr>
              <a:t>?</a:t>
            </a:r>
            <a:endParaRPr lang="en-ID" sz="3200" b="1" dirty="0">
              <a:solidFill>
                <a:srgbClr val="56091F"/>
              </a:solidFill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034178" y="5210175"/>
            <a:ext cx="3613973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/>
            <a:r>
              <a:rPr lang="es-ES" sz="3600" dirty="0" smtClean="0">
                <a:solidFill>
                  <a:srgbClr val="56091F"/>
                </a:solidFill>
              </a:rPr>
              <a:t>3. </a:t>
            </a:r>
            <a:r>
              <a:rPr lang="es-ES" sz="3200" b="1" dirty="0" err="1" smtClean="0">
                <a:solidFill>
                  <a:srgbClr val="56091F"/>
                </a:solidFill>
              </a:rPr>
              <a:t>Bagaimana</a:t>
            </a:r>
            <a:r>
              <a:rPr lang="es-ES" sz="3200" b="1" dirty="0" smtClean="0">
                <a:solidFill>
                  <a:srgbClr val="56091F"/>
                </a:solidFill>
              </a:rPr>
              <a:t> </a:t>
            </a:r>
            <a:r>
              <a:rPr lang="es-ES" sz="3200" b="1" dirty="0" err="1">
                <a:solidFill>
                  <a:srgbClr val="56091F"/>
                </a:solidFill>
              </a:rPr>
              <a:t>siswa</a:t>
            </a:r>
            <a:r>
              <a:rPr lang="es-ES" sz="3200" b="1" dirty="0">
                <a:solidFill>
                  <a:srgbClr val="56091F"/>
                </a:solidFill>
              </a:rPr>
              <a:t> </a:t>
            </a:r>
            <a:r>
              <a:rPr lang="es-ES" sz="3200" b="1" dirty="0" err="1">
                <a:solidFill>
                  <a:srgbClr val="56091F"/>
                </a:solidFill>
              </a:rPr>
              <a:t>dapat</a:t>
            </a:r>
            <a:r>
              <a:rPr lang="es-ES" sz="3200" b="1" dirty="0">
                <a:solidFill>
                  <a:srgbClr val="56091F"/>
                </a:solidFill>
              </a:rPr>
              <a:t> </a:t>
            </a:r>
            <a:r>
              <a:rPr lang="es-ES" sz="3200" b="1" dirty="0" err="1">
                <a:solidFill>
                  <a:srgbClr val="56091F"/>
                </a:solidFill>
              </a:rPr>
              <a:t>memblokir</a:t>
            </a:r>
            <a:r>
              <a:rPr lang="es-ES" sz="3200" b="1" dirty="0">
                <a:solidFill>
                  <a:srgbClr val="56091F"/>
                </a:solidFill>
              </a:rPr>
              <a:t> file .</a:t>
            </a:r>
            <a:r>
              <a:rPr lang="es-ES" sz="3200" b="1" dirty="0" err="1">
                <a:solidFill>
                  <a:srgbClr val="56091F"/>
                </a:solidFill>
              </a:rPr>
              <a:t>mkv</a:t>
            </a:r>
            <a:r>
              <a:rPr lang="es-ES" sz="3200" b="1" dirty="0">
                <a:solidFill>
                  <a:srgbClr val="56091F"/>
                </a:solidFill>
              </a:rPr>
              <a:t>?</a:t>
            </a:r>
            <a:endParaRPr lang="en-ID" sz="3200" b="1" dirty="0">
              <a:solidFill>
                <a:srgbClr val="56091F"/>
              </a:solidFill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762577" y="5336905"/>
            <a:ext cx="3590354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/>
            <a:r>
              <a:rPr lang="es-ES" sz="3200" b="1" dirty="0" smtClean="0">
                <a:solidFill>
                  <a:srgbClr val="56091F"/>
                </a:solidFill>
              </a:rPr>
              <a:t>2. </a:t>
            </a:r>
            <a:r>
              <a:rPr lang="es-ES" sz="3200" b="1" dirty="0" err="1" smtClean="0">
                <a:solidFill>
                  <a:srgbClr val="56091F"/>
                </a:solidFill>
              </a:rPr>
              <a:t>Bagaimna</a:t>
            </a:r>
            <a:r>
              <a:rPr lang="es-ES" sz="3200" b="1" dirty="0" smtClean="0">
                <a:solidFill>
                  <a:srgbClr val="56091F"/>
                </a:solidFill>
              </a:rPr>
              <a:t> </a:t>
            </a:r>
            <a:r>
              <a:rPr lang="es-ES" sz="3200" b="1" dirty="0" err="1">
                <a:solidFill>
                  <a:srgbClr val="56091F"/>
                </a:solidFill>
              </a:rPr>
              <a:t>siswa</a:t>
            </a:r>
            <a:r>
              <a:rPr lang="es-ES" sz="3200" b="1" dirty="0">
                <a:solidFill>
                  <a:srgbClr val="56091F"/>
                </a:solidFill>
              </a:rPr>
              <a:t> </a:t>
            </a:r>
            <a:r>
              <a:rPr lang="es-ES" sz="3200" b="1" dirty="0" err="1">
                <a:solidFill>
                  <a:srgbClr val="56091F"/>
                </a:solidFill>
              </a:rPr>
              <a:t>dapat</a:t>
            </a:r>
            <a:r>
              <a:rPr lang="es-ES" sz="3200" b="1" dirty="0">
                <a:solidFill>
                  <a:srgbClr val="56091F"/>
                </a:solidFill>
              </a:rPr>
              <a:t> </a:t>
            </a:r>
            <a:r>
              <a:rPr lang="es-ES" sz="3200" b="1" dirty="0" err="1">
                <a:solidFill>
                  <a:srgbClr val="56091F"/>
                </a:solidFill>
              </a:rPr>
              <a:t>memblokir</a:t>
            </a:r>
            <a:r>
              <a:rPr lang="es-ES" sz="3200" b="1" dirty="0">
                <a:solidFill>
                  <a:srgbClr val="56091F"/>
                </a:solidFill>
              </a:rPr>
              <a:t> </a:t>
            </a:r>
            <a:r>
              <a:rPr lang="es-ES" sz="3200" b="1" dirty="0" err="1">
                <a:solidFill>
                  <a:srgbClr val="56091F"/>
                </a:solidFill>
              </a:rPr>
              <a:t>situs</a:t>
            </a:r>
            <a:r>
              <a:rPr lang="es-ES" sz="3200" b="1" dirty="0">
                <a:solidFill>
                  <a:srgbClr val="56091F"/>
                </a:solidFill>
              </a:rPr>
              <a:t> .mp3?</a:t>
            </a:r>
            <a:endParaRPr lang="en-ID" sz="3200" b="1" dirty="0">
              <a:solidFill>
                <a:srgbClr val="56091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5962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2" y="0"/>
                </a:lnTo>
                <a:lnTo>
                  <a:pt x="13194772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3" name="Freeform 3"/>
          <p:cNvSpPr/>
          <p:nvPr/>
        </p:nvSpPr>
        <p:spPr>
          <a:xfrm>
            <a:off x="10188348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TextBox 4"/>
          <p:cNvSpPr txBox="1"/>
          <p:nvPr/>
        </p:nvSpPr>
        <p:spPr>
          <a:xfrm>
            <a:off x="3028849" y="2719877"/>
            <a:ext cx="11947290" cy="1902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84"/>
              </a:lnSpc>
            </a:pPr>
            <a:r>
              <a:rPr lang="en-US" sz="13596" spc="-285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tujuan</a:t>
            </a:r>
            <a:endParaRPr lang="en-US" sz="13596" spc="-285" dirty="0">
              <a:solidFill>
                <a:srgbClr val="F9AABB"/>
              </a:solidFill>
              <a:latin typeface="EFCO Brookshire"/>
              <a:ea typeface="EFCO Brookshire"/>
              <a:cs typeface="EFCO Brookshire"/>
              <a:sym typeface="EFCO Brookshire"/>
            </a:endParaRPr>
          </a:p>
        </p:txBody>
      </p:sp>
      <p:sp>
        <p:nvSpPr>
          <p:cNvPr id="5" name="Freeform 5"/>
          <p:cNvSpPr/>
          <p:nvPr/>
        </p:nvSpPr>
        <p:spPr>
          <a:xfrm rot="-5400000" flipH="1">
            <a:off x="-1276490" y="6996868"/>
            <a:ext cx="4506550" cy="4072283"/>
          </a:xfrm>
          <a:custGeom>
            <a:avLst/>
            <a:gdLst/>
            <a:ahLst/>
            <a:cxnLst/>
            <a:rect l="l" t="t" r="r" b="b"/>
            <a:pathLst>
              <a:path w="4506550" h="4072283">
                <a:moveTo>
                  <a:pt x="4506551" y="0"/>
                </a:moveTo>
                <a:lnTo>
                  <a:pt x="0" y="0"/>
                </a:lnTo>
                <a:lnTo>
                  <a:pt x="0" y="4072282"/>
                </a:lnTo>
                <a:lnTo>
                  <a:pt x="4506551" y="4072282"/>
                </a:lnTo>
                <a:lnTo>
                  <a:pt x="45065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6" name="Group 6"/>
          <p:cNvGrpSpPr/>
          <p:nvPr/>
        </p:nvGrpSpPr>
        <p:grpSpPr>
          <a:xfrm>
            <a:off x="2183448" y="4914900"/>
            <a:ext cx="4565570" cy="2438400"/>
            <a:chOff x="0" y="-57150"/>
            <a:chExt cx="860828" cy="1525798"/>
          </a:xfrm>
        </p:grpSpPr>
        <p:sp>
          <p:nvSpPr>
            <p:cNvPr id="7" name="Freeform 7"/>
            <p:cNvSpPr/>
            <p:nvPr/>
          </p:nvSpPr>
          <p:spPr>
            <a:xfrm>
              <a:off x="162043" y="2792"/>
              <a:ext cx="698785" cy="1465856"/>
            </a:xfrm>
            <a:custGeom>
              <a:avLst/>
              <a:gdLst/>
              <a:ahLst/>
              <a:cxnLst/>
              <a:rect l="l" t="t" r="r" b="b"/>
              <a:pathLst>
                <a:path w="698785" h="1465856">
                  <a:moveTo>
                    <a:pt x="96293" y="0"/>
                  </a:moveTo>
                  <a:lnTo>
                    <a:pt x="602492" y="0"/>
                  </a:lnTo>
                  <a:cubicBezTo>
                    <a:pt x="628031" y="0"/>
                    <a:pt x="652523" y="10145"/>
                    <a:pt x="670581" y="28203"/>
                  </a:cubicBezTo>
                  <a:cubicBezTo>
                    <a:pt x="688640" y="46262"/>
                    <a:pt x="698785" y="70754"/>
                    <a:pt x="698785" y="96293"/>
                  </a:cubicBezTo>
                  <a:lnTo>
                    <a:pt x="698785" y="1369563"/>
                  </a:lnTo>
                  <a:cubicBezTo>
                    <a:pt x="698785" y="1395101"/>
                    <a:pt x="688640" y="1419594"/>
                    <a:pt x="670581" y="1437652"/>
                  </a:cubicBezTo>
                  <a:cubicBezTo>
                    <a:pt x="652523" y="1455710"/>
                    <a:pt x="628031" y="1465856"/>
                    <a:pt x="602492" y="1465856"/>
                  </a:cubicBezTo>
                  <a:lnTo>
                    <a:pt x="96293" y="1465856"/>
                  </a:lnTo>
                  <a:cubicBezTo>
                    <a:pt x="70754" y="1465856"/>
                    <a:pt x="46262" y="1455710"/>
                    <a:pt x="28203" y="1437652"/>
                  </a:cubicBezTo>
                  <a:cubicBezTo>
                    <a:pt x="10145" y="1419594"/>
                    <a:pt x="0" y="1395101"/>
                    <a:pt x="0" y="1369563"/>
                  </a:cubicBezTo>
                  <a:lnTo>
                    <a:pt x="0" y="96293"/>
                  </a:lnTo>
                  <a:cubicBezTo>
                    <a:pt x="0" y="70754"/>
                    <a:pt x="10145" y="46262"/>
                    <a:pt x="28203" y="28203"/>
                  </a:cubicBezTo>
                  <a:cubicBezTo>
                    <a:pt x="46262" y="10145"/>
                    <a:pt x="70754" y="0"/>
                    <a:pt x="96293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698785" cy="1523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969251" y="5010694"/>
            <a:ext cx="3706143" cy="2338144"/>
            <a:chOff x="0" y="0"/>
            <a:chExt cx="698785" cy="14658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98785" cy="1465856"/>
            </a:xfrm>
            <a:custGeom>
              <a:avLst/>
              <a:gdLst/>
              <a:ahLst/>
              <a:cxnLst/>
              <a:rect l="l" t="t" r="r" b="b"/>
              <a:pathLst>
                <a:path w="698785" h="1465856">
                  <a:moveTo>
                    <a:pt x="96293" y="0"/>
                  </a:moveTo>
                  <a:lnTo>
                    <a:pt x="602492" y="0"/>
                  </a:lnTo>
                  <a:cubicBezTo>
                    <a:pt x="628031" y="0"/>
                    <a:pt x="652523" y="10145"/>
                    <a:pt x="670581" y="28203"/>
                  </a:cubicBezTo>
                  <a:cubicBezTo>
                    <a:pt x="688640" y="46262"/>
                    <a:pt x="698785" y="70754"/>
                    <a:pt x="698785" y="96293"/>
                  </a:cubicBezTo>
                  <a:lnTo>
                    <a:pt x="698785" y="1369563"/>
                  </a:lnTo>
                  <a:cubicBezTo>
                    <a:pt x="698785" y="1395101"/>
                    <a:pt x="688640" y="1419594"/>
                    <a:pt x="670581" y="1437652"/>
                  </a:cubicBezTo>
                  <a:cubicBezTo>
                    <a:pt x="652523" y="1455710"/>
                    <a:pt x="628031" y="1465856"/>
                    <a:pt x="602492" y="1465856"/>
                  </a:cubicBezTo>
                  <a:lnTo>
                    <a:pt x="96293" y="1465856"/>
                  </a:lnTo>
                  <a:cubicBezTo>
                    <a:pt x="70754" y="1465856"/>
                    <a:pt x="46262" y="1455710"/>
                    <a:pt x="28203" y="1437652"/>
                  </a:cubicBezTo>
                  <a:cubicBezTo>
                    <a:pt x="10145" y="1419594"/>
                    <a:pt x="0" y="1395101"/>
                    <a:pt x="0" y="1369563"/>
                  </a:cubicBezTo>
                  <a:lnTo>
                    <a:pt x="0" y="96293"/>
                  </a:lnTo>
                  <a:cubicBezTo>
                    <a:pt x="0" y="70754"/>
                    <a:pt x="10145" y="46262"/>
                    <a:pt x="28203" y="28203"/>
                  </a:cubicBezTo>
                  <a:cubicBezTo>
                    <a:pt x="46262" y="10145"/>
                    <a:pt x="70754" y="0"/>
                    <a:pt x="96293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698785" cy="1523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72141" y="5010694"/>
            <a:ext cx="3706143" cy="2338144"/>
            <a:chOff x="0" y="0"/>
            <a:chExt cx="698785" cy="14658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8785" cy="1465856"/>
            </a:xfrm>
            <a:custGeom>
              <a:avLst/>
              <a:gdLst/>
              <a:ahLst/>
              <a:cxnLst/>
              <a:rect l="l" t="t" r="r" b="b"/>
              <a:pathLst>
                <a:path w="698785" h="1465856">
                  <a:moveTo>
                    <a:pt x="96293" y="0"/>
                  </a:moveTo>
                  <a:lnTo>
                    <a:pt x="602492" y="0"/>
                  </a:lnTo>
                  <a:cubicBezTo>
                    <a:pt x="628031" y="0"/>
                    <a:pt x="652523" y="10145"/>
                    <a:pt x="670581" y="28203"/>
                  </a:cubicBezTo>
                  <a:cubicBezTo>
                    <a:pt x="688640" y="46262"/>
                    <a:pt x="698785" y="70754"/>
                    <a:pt x="698785" y="96293"/>
                  </a:cubicBezTo>
                  <a:lnTo>
                    <a:pt x="698785" y="1369563"/>
                  </a:lnTo>
                  <a:cubicBezTo>
                    <a:pt x="698785" y="1395101"/>
                    <a:pt x="688640" y="1419594"/>
                    <a:pt x="670581" y="1437652"/>
                  </a:cubicBezTo>
                  <a:cubicBezTo>
                    <a:pt x="652523" y="1455710"/>
                    <a:pt x="628031" y="1465856"/>
                    <a:pt x="602492" y="1465856"/>
                  </a:cubicBezTo>
                  <a:lnTo>
                    <a:pt x="96293" y="1465856"/>
                  </a:lnTo>
                  <a:cubicBezTo>
                    <a:pt x="70754" y="1465856"/>
                    <a:pt x="46262" y="1455710"/>
                    <a:pt x="28203" y="1437652"/>
                  </a:cubicBezTo>
                  <a:cubicBezTo>
                    <a:pt x="10145" y="1419594"/>
                    <a:pt x="0" y="1395101"/>
                    <a:pt x="0" y="1369563"/>
                  </a:cubicBezTo>
                  <a:lnTo>
                    <a:pt x="0" y="96293"/>
                  </a:lnTo>
                  <a:cubicBezTo>
                    <a:pt x="0" y="70754"/>
                    <a:pt x="10145" y="46262"/>
                    <a:pt x="28203" y="28203"/>
                  </a:cubicBezTo>
                  <a:cubicBezTo>
                    <a:pt x="46262" y="10145"/>
                    <a:pt x="70754" y="0"/>
                    <a:pt x="96293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698785" cy="1523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 rot="-5400000" flipH="1" flipV="1">
            <a:off x="15100536" y="7222159"/>
            <a:ext cx="4506550" cy="4072283"/>
          </a:xfrm>
          <a:custGeom>
            <a:avLst/>
            <a:gdLst/>
            <a:ahLst/>
            <a:cxnLst/>
            <a:rect l="l" t="t" r="r" b="b"/>
            <a:pathLst>
              <a:path w="4506550" h="4072283">
                <a:moveTo>
                  <a:pt x="4506550" y="4072282"/>
                </a:moveTo>
                <a:lnTo>
                  <a:pt x="0" y="4072282"/>
                </a:lnTo>
                <a:lnTo>
                  <a:pt x="0" y="0"/>
                </a:lnTo>
                <a:lnTo>
                  <a:pt x="4506550" y="0"/>
                </a:lnTo>
                <a:lnTo>
                  <a:pt x="4506550" y="407228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4" name="TextBox 24"/>
          <p:cNvSpPr txBox="1"/>
          <p:nvPr/>
        </p:nvSpPr>
        <p:spPr>
          <a:xfrm>
            <a:off x="15326988" y="3475639"/>
            <a:ext cx="1932312" cy="578266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079"/>
              </a:lnSpc>
            </a:pPr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3373463" y="5281476"/>
            <a:ext cx="3016146" cy="1723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/>
            <a:r>
              <a:rPr lang="es-ES" sz="2800" b="1" dirty="0" err="1">
                <a:solidFill>
                  <a:srgbClr val="56091F"/>
                </a:solidFill>
              </a:rPr>
              <a:t>Siswa</a:t>
            </a:r>
            <a:r>
              <a:rPr lang="es-ES" sz="2800" b="1" dirty="0">
                <a:solidFill>
                  <a:srgbClr val="56091F"/>
                </a:solidFill>
              </a:rPr>
              <a:t> </a:t>
            </a:r>
            <a:r>
              <a:rPr lang="es-ES" sz="2800" b="1" dirty="0" err="1">
                <a:solidFill>
                  <a:srgbClr val="56091F"/>
                </a:solidFill>
              </a:rPr>
              <a:t>dapat</a:t>
            </a:r>
            <a:r>
              <a:rPr lang="es-ES" sz="2800" b="1" dirty="0">
                <a:solidFill>
                  <a:srgbClr val="56091F"/>
                </a:solidFill>
              </a:rPr>
              <a:t> </a:t>
            </a:r>
            <a:r>
              <a:rPr lang="es-ES" sz="2800" b="1" dirty="0" err="1">
                <a:solidFill>
                  <a:srgbClr val="56091F"/>
                </a:solidFill>
              </a:rPr>
              <a:t>memahami</a:t>
            </a:r>
            <a:r>
              <a:rPr lang="es-ES" sz="2800" b="1" dirty="0">
                <a:solidFill>
                  <a:srgbClr val="56091F"/>
                </a:solidFill>
              </a:rPr>
              <a:t> cara </a:t>
            </a:r>
            <a:r>
              <a:rPr lang="es-ES" sz="2800" b="1" dirty="0" err="1">
                <a:solidFill>
                  <a:srgbClr val="56091F"/>
                </a:solidFill>
              </a:rPr>
              <a:t>memblokir</a:t>
            </a:r>
            <a:r>
              <a:rPr lang="es-ES" sz="2800" b="1" dirty="0">
                <a:solidFill>
                  <a:srgbClr val="56091F"/>
                </a:solidFill>
              </a:rPr>
              <a:t> </a:t>
            </a:r>
            <a:r>
              <a:rPr lang="es-ES" sz="2800" b="1" dirty="0" err="1">
                <a:solidFill>
                  <a:srgbClr val="56091F"/>
                </a:solidFill>
              </a:rPr>
              <a:t>situs</a:t>
            </a:r>
            <a:r>
              <a:rPr lang="es-ES" sz="2800" b="1" dirty="0">
                <a:solidFill>
                  <a:srgbClr val="56091F"/>
                </a:solidFill>
              </a:rPr>
              <a:t> .</a:t>
            </a:r>
            <a:r>
              <a:rPr lang="es-ES" sz="2800" b="1" dirty="0" err="1">
                <a:solidFill>
                  <a:srgbClr val="56091F"/>
                </a:solidFill>
              </a:rPr>
              <a:t>mkv</a:t>
            </a:r>
            <a:r>
              <a:rPr lang="es-ES" sz="2800" b="1" dirty="0">
                <a:solidFill>
                  <a:srgbClr val="56091F"/>
                </a:solidFill>
              </a:rPr>
              <a:t> dan .mp3.</a:t>
            </a:r>
            <a:endParaRPr lang="en-ID" sz="2800" b="1" dirty="0">
              <a:solidFill>
                <a:srgbClr val="56091F"/>
              </a:solidFill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1329878" y="5074369"/>
            <a:ext cx="3073921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/>
            <a:r>
              <a:rPr lang="en-ID" sz="2800" b="1" dirty="0" err="1">
                <a:solidFill>
                  <a:srgbClr val="56091F"/>
                </a:solidFill>
              </a:rPr>
              <a:t>Siswa</a:t>
            </a:r>
            <a:r>
              <a:rPr lang="en-ID" sz="2800" b="1" dirty="0">
                <a:solidFill>
                  <a:srgbClr val="56091F"/>
                </a:solidFill>
              </a:rPr>
              <a:t> </a:t>
            </a:r>
            <a:r>
              <a:rPr lang="en-ID" sz="2800" b="1" dirty="0" err="1">
                <a:solidFill>
                  <a:srgbClr val="56091F"/>
                </a:solidFill>
              </a:rPr>
              <a:t>dapat</a:t>
            </a:r>
            <a:r>
              <a:rPr lang="en-ID" sz="2800" b="1" dirty="0">
                <a:solidFill>
                  <a:srgbClr val="56091F"/>
                </a:solidFill>
              </a:rPr>
              <a:t> </a:t>
            </a:r>
            <a:r>
              <a:rPr lang="en-ID" sz="2800" b="1" dirty="0" err="1">
                <a:solidFill>
                  <a:srgbClr val="56091F"/>
                </a:solidFill>
              </a:rPr>
              <a:t>memahami</a:t>
            </a:r>
            <a:r>
              <a:rPr lang="en-ID" sz="2800" b="1" dirty="0">
                <a:solidFill>
                  <a:srgbClr val="56091F"/>
                </a:solidFill>
              </a:rPr>
              <a:t> </a:t>
            </a:r>
            <a:r>
              <a:rPr lang="en-ID" sz="2800" b="1" dirty="0" err="1">
                <a:solidFill>
                  <a:srgbClr val="56091F"/>
                </a:solidFill>
              </a:rPr>
              <a:t>cara</a:t>
            </a:r>
            <a:r>
              <a:rPr lang="en-ID" sz="2800" b="1" dirty="0">
                <a:solidFill>
                  <a:srgbClr val="56091F"/>
                </a:solidFill>
              </a:rPr>
              <a:t> </a:t>
            </a:r>
            <a:r>
              <a:rPr lang="en-ID" sz="2800" b="1" dirty="0" err="1">
                <a:solidFill>
                  <a:srgbClr val="56091F"/>
                </a:solidFill>
              </a:rPr>
              <a:t>memblokir</a:t>
            </a:r>
            <a:r>
              <a:rPr lang="en-ID" sz="2800" b="1" dirty="0">
                <a:solidFill>
                  <a:srgbClr val="56091F"/>
                </a:solidFill>
              </a:rPr>
              <a:t> IP </a:t>
            </a:r>
            <a:r>
              <a:rPr lang="en-ID" sz="2800" b="1" i="1" dirty="0">
                <a:solidFill>
                  <a:srgbClr val="56091F"/>
                </a:solidFill>
              </a:rPr>
              <a:t>Client</a:t>
            </a:r>
            <a:r>
              <a:rPr lang="en-ID" sz="2800" b="1" dirty="0">
                <a:solidFill>
                  <a:srgbClr val="56091F"/>
                </a:solidFill>
              </a:rPr>
              <a:t> </a:t>
            </a:r>
            <a:r>
              <a:rPr lang="en-ID" sz="2800" b="1" dirty="0" err="1">
                <a:solidFill>
                  <a:srgbClr val="56091F"/>
                </a:solidFill>
              </a:rPr>
              <a:t>dan</a:t>
            </a:r>
            <a:r>
              <a:rPr lang="en-ID" sz="2800" b="1" dirty="0">
                <a:solidFill>
                  <a:srgbClr val="56091F"/>
                </a:solidFill>
              </a:rPr>
              <a:t> IP </a:t>
            </a:r>
            <a:r>
              <a:rPr lang="en-ID" sz="2800" b="1" dirty="0" err="1">
                <a:solidFill>
                  <a:srgbClr val="56091F"/>
                </a:solidFill>
              </a:rPr>
              <a:t>Lokal</a:t>
            </a:r>
            <a:r>
              <a:rPr lang="en-ID" sz="2800" b="1" dirty="0">
                <a:solidFill>
                  <a:srgbClr val="56091F"/>
                </a:solidFill>
              </a:rPr>
              <a:t> </a:t>
            </a:r>
            <a:r>
              <a:rPr lang="en-ID" sz="2800" b="1" dirty="0" err="1">
                <a:solidFill>
                  <a:srgbClr val="56091F"/>
                </a:solidFill>
              </a:rPr>
              <a:t>melalui</a:t>
            </a:r>
            <a:r>
              <a:rPr lang="en-ID" sz="2800" b="1" dirty="0">
                <a:solidFill>
                  <a:srgbClr val="56091F"/>
                </a:solidFill>
              </a:rPr>
              <a:t> </a:t>
            </a:r>
            <a:r>
              <a:rPr lang="en-ID" sz="2800" b="1" i="1" dirty="0">
                <a:solidFill>
                  <a:srgbClr val="56091F"/>
                </a:solidFill>
              </a:rPr>
              <a:t>Firewall</a:t>
            </a:r>
            <a:r>
              <a:rPr lang="en-ID" sz="2800" b="1" dirty="0">
                <a:solidFill>
                  <a:srgbClr val="56091F"/>
                </a:solidFill>
              </a:rPr>
              <a:t>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275169" y="5270094"/>
            <a:ext cx="3148363" cy="1723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/>
            <a:r>
              <a:rPr lang="es-ES" sz="2800" b="1" dirty="0" err="1">
                <a:solidFill>
                  <a:srgbClr val="56091F"/>
                </a:solidFill>
              </a:rPr>
              <a:t>Siswa</a:t>
            </a:r>
            <a:r>
              <a:rPr lang="es-ES" sz="2800" b="1" dirty="0">
                <a:solidFill>
                  <a:srgbClr val="56091F"/>
                </a:solidFill>
              </a:rPr>
              <a:t> </a:t>
            </a:r>
            <a:r>
              <a:rPr lang="es-ES" sz="2800" b="1" dirty="0" err="1">
                <a:solidFill>
                  <a:srgbClr val="56091F"/>
                </a:solidFill>
              </a:rPr>
              <a:t>dapat</a:t>
            </a:r>
            <a:r>
              <a:rPr lang="es-ES" sz="2800" b="1" dirty="0">
                <a:solidFill>
                  <a:srgbClr val="56091F"/>
                </a:solidFill>
              </a:rPr>
              <a:t> </a:t>
            </a:r>
            <a:r>
              <a:rPr lang="en-ID" sz="2800" b="1" dirty="0" err="1">
                <a:solidFill>
                  <a:srgbClr val="56091F"/>
                </a:solidFill>
              </a:rPr>
              <a:t>memblokir</a:t>
            </a:r>
            <a:r>
              <a:rPr lang="en-ID" sz="2800" b="1" dirty="0">
                <a:solidFill>
                  <a:srgbClr val="56091F"/>
                </a:solidFill>
              </a:rPr>
              <a:t> situs-situs yang </a:t>
            </a:r>
            <a:r>
              <a:rPr lang="en-ID" sz="2800" b="1" dirty="0" err="1">
                <a:solidFill>
                  <a:srgbClr val="56091F"/>
                </a:solidFill>
              </a:rPr>
              <a:t>tak</a:t>
            </a:r>
            <a:r>
              <a:rPr lang="en-ID" sz="2800" b="1" dirty="0">
                <a:solidFill>
                  <a:srgbClr val="56091F"/>
                </a:solidFill>
              </a:rPr>
              <a:t> </a:t>
            </a:r>
            <a:r>
              <a:rPr lang="en-ID" sz="2800" b="1" dirty="0" err="1">
                <a:solidFill>
                  <a:srgbClr val="56091F"/>
                </a:solidFill>
              </a:rPr>
              <a:t>diinginkan</a:t>
            </a:r>
            <a:r>
              <a:rPr lang="en-ID" sz="2800" dirty="0"/>
              <a:t>.</a:t>
            </a:r>
          </a:p>
        </p:txBody>
      </p:sp>
      <p:sp>
        <p:nvSpPr>
          <p:cNvPr id="41" name="Freeform 41"/>
          <p:cNvSpPr/>
          <p:nvPr/>
        </p:nvSpPr>
        <p:spPr>
          <a:xfrm rot="-5400000" flipV="1">
            <a:off x="15109854" y="-920637"/>
            <a:ext cx="4506550" cy="4072283"/>
          </a:xfrm>
          <a:custGeom>
            <a:avLst/>
            <a:gdLst/>
            <a:ahLst/>
            <a:cxnLst/>
            <a:rect l="l" t="t" r="r" b="b"/>
            <a:pathLst>
              <a:path w="4506550" h="4072283">
                <a:moveTo>
                  <a:pt x="0" y="4072283"/>
                </a:moveTo>
                <a:lnTo>
                  <a:pt x="4506550" y="4072283"/>
                </a:lnTo>
                <a:lnTo>
                  <a:pt x="4506550" y="0"/>
                </a:lnTo>
                <a:lnTo>
                  <a:pt x="0" y="0"/>
                </a:lnTo>
                <a:lnTo>
                  <a:pt x="0" y="407228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2" name="Freeform 42"/>
          <p:cNvSpPr/>
          <p:nvPr/>
        </p:nvSpPr>
        <p:spPr>
          <a:xfrm rot="-5400000">
            <a:off x="-1328611" y="-920637"/>
            <a:ext cx="4506550" cy="4072283"/>
          </a:xfrm>
          <a:custGeom>
            <a:avLst/>
            <a:gdLst/>
            <a:ahLst/>
            <a:cxnLst/>
            <a:rect l="l" t="t" r="r" b="b"/>
            <a:pathLst>
              <a:path w="4506550" h="4072283">
                <a:moveTo>
                  <a:pt x="0" y="0"/>
                </a:moveTo>
                <a:lnTo>
                  <a:pt x="4506550" y="0"/>
                </a:lnTo>
                <a:lnTo>
                  <a:pt x="4506550" y="4072283"/>
                </a:lnTo>
                <a:lnTo>
                  <a:pt x="0" y="4072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5962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2" y="0"/>
                </a:lnTo>
                <a:lnTo>
                  <a:pt x="13194772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10188348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 rot="-5085271">
            <a:off x="-2989403" y="5387158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0"/>
                </a:moveTo>
                <a:lnTo>
                  <a:pt x="7610491" y="0"/>
                </a:lnTo>
                <a:lnTo>
                  <a:pt x="7610491" y="6877116"/>
                </a:lnTo>
                <a:lnTo>
                  <a:pt x="0" y="68771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 rot="-6051617" flipV="1">
            <a:off x="14007855" y="5420410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6877116"/>
                </a:moveTo>
                <a:lnTo>
                  <a:pt x="7610490" y="6877116"/>
                </a:lnTo>
                <a:lnTo>
                  <a:pt x="7610490" y="0"/>
                </a:lnTo>
                <a:lnTo>
                  <a:pt x="0" y="0"/>
                </a:lnTo>
                <a:lnTo>
                  <a:pt x="0" y="68771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6" name="Group 6"/>
          <p:cNvGrpSpPr/>
          <p:nvPr/>
        </p:nvGrpSpPr>
        <p:grpSpPr>
          <a:xfrm>
            <a:off x="1294005" y="3885929"/>
            <a:ext cx="4787419" cy="5372371"/>
            <a:chOff x="0" y="0"/>
            <a:chExt cx="1260884" cy="14149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60884" cy="1414946"/>
            </a:xfrm>
            <a:custGeom>
              <a:avLst/>
              <a:gdLst/>
              <a:ahLst/>
              <a:cxnLst/>
              <a:rect l="l" t="t" r="r" b="b"/>
              <a:pathLst>
                <a:path w="1260884" h="1414946">
                  <a:moveTo>
                    <a:pt x="53366" y="0"/>
                  </a:moveTo>
                  <a:lnTo>
                    <a:pt x="1207519" y="0"/>
                  </a:lnTo>
                  <a:cubicBezTo>
                    <a:pt x="1236992" y="0"/>
                    <a:pt x="1260884" y="23893"/>
                    <a:pt x="1260884" y="53366"/>
                  </a:cubicBezTo>
                  <a:lnTo>
                    <a:pt x="1260884" y="1361580"/>
                  </a:lnTo>
                  <a:cubicBezTo>
                    <a:pt x="1260884" y="1391053"/>
                    <a:pt x="1236992" y="1414946"/>
                    <a:pt x="1207519" y="1414946"/>
                  </a:cubicBezTo>
                  <a:lnTo>
                    <a:pt x="53366" y="1414946"/>
                  </a:lnTo>
                  <a:cubicBezTo>
                    <a:pt x="23893" y="1414946"/>
                    <a:pt x="0" y="1391053"/>
                    <a:pt x="0" y="1361580"/>
                  </a:cubicBezTo>
                  <a:lnTo>
                    <a:pt x="0" y="53366"/>
                  </a:lnTo>
                  <a:cubicBezTo>
                    <a:pt x="0" y="23893"/>
                    <a:pt x="23893" y="0"/>
                    <a:pt x="53366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260884" cy="1472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35142" y="3885929"/>
            <a:ext cx="4787419" cy="5372371"/>
            <a:chOff x="0" y="0"/>
            <a:chExt cx="1260884" cy="141494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60884" cy="1414946"/>
            </a:xfrm>
            <a:custGeom>
              <a:avLst/>
              <a:gdLst/>
              <a:ahLst/>
              <a:cxnLst/>
              <a:rect l="l" t="t" r="r" b="b"/>
              <a:pathLst>
                <a:path w="1260884" h="1414946">
                  <a:moveTo>
                    <a:pt x="53366" y="0"/>
                  </a:moveTo>
                  <a:lnTo>
                    <a:pt x="1207519" y="0"/>
                  </a:lnTo>
                  <a:cubicBezTo>
                    <a:pt x="1236992" y="0"/>
                    <a:pt x="1260884" y="23893"/>
                    <a:pt x="1260884" y="53366"/>
                  </a:cubicBezTo>
                  <a:lnTo>
                    <a:pt x="1260884" y="1361580"/>
                  </a:lnTo>
                  <a:cubicBezTo>
                    <a:pt x="1260884" y="1391053"/>
                    <a:pt x="1236992" y="1414946"/>
                    <a:pt x="1207519" y="1414946"/>
                  </a:cubicBezTo>
                  <a:lnTo>
                    <a:pt x="53366" y="1414946"/>
                  </a:lnTo>
                  <a:cubicBezTo>
                    <a:pt x="23893" y="1414946"/>
                    <a:pt x="0" y="1391053"/>
                    <a:pt x="0" y="1361580"/>
                  </a:cubicBezTo>
                  <a:lnTo>
                    <a:pt x="0" y="53366"/>
                  </a:lnTo>
                  <a:cubicBezTo>
                    <a:pt x="0" y="23893"/>
                    <a:pt x="23893" y="0"/>
                    <a:pt x="53366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260884" cy="1472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471881" y="3885929"/>
            <a:ext cx="4787419" cy="5372371"/>
            <a:chOff x="0" y="0"/>
            <a:chExt cx="1260884" cy="141494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60884" cy="1414946"/>
            </a:xfrm>
            <a:custGeom>
              <a:avLst/>
              <a:gdLst/>
              <a:ahLst/>
              <a:cxnLst/>
              <a:rect l="l" t="t" r="r" b="b"/>
              <a:pathLst>
                <a:path w="1260884" h="1414946">
                  <a:moveTo>
                    <a:pt x="53366" y="0"/>
                  </a:moveTo>
                  <a:lnTo>
                    <a:pt x="1207519" y="0"/>
                  </a:lnTo>
                  <a:cubicBezTo>
                    <a:pt x="1236992" y="0"/>
                    <a:pt x="1260884" y="23893"/>
                    <a:pt x="1260884" y="53366"/>
                  </a:cubicBezTo>
                  <a:lnTo>
                    <a:pt x="1260884" y="1361580"/>
                  </a:lnTo>
                  <a:cubicBezTo>
                    <a:pt x="1260884" y="1391053"/>
                    <a:pt x="1236992" y="1414946"/>
                    <a:pt x="1207519" y="1414946"/>
                  </a:cubicBezTo>
                  <a:lnTo>
                    <a:pt x="53366" y="1414946"/>
                  </a:lnTo>
                  <a:cubicBezTo>
                    <a:pt x="23893" y="1414946"/>
                    <a:pt x="0" y="1391053"/>
                    <a:pt x="0" y="1361580"/>
                  </a:cubicBezTo>
                  <a:lnTo>
                    <a:pt x="0" y="53366"/>
                  </a:lnTo>
                  <a:cubicBezTo>
                    <a:pt x="0" y="23893"/>
                    <a:pt x="23893" y="0"/>
                    <a:pt x="53366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260884" cy="1472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566737" y="875010"/>
            <a:ext cx="15483824" cy="1902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84"/>
              </a:lnSpc>
            </a:pPr>
            <a:r>
              <a:rPr lang="en-US" sz="13596" spc="-285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manfaat</a:t>
            </a:r>
            <a:endParaRPr lang="en-US" sz="13596" spc="-285" dirty="0">
              <a:solidFill>
                <a:srgbClr val="F9AABB"/>
              </a:solidFill>
              <a:latin typeface="EFCO Brookshire"/>
              <a:ea typeface="EFCO Brookshire"/>
              <a:cs typeface="EFCO Brookshire"/>
              <a:sym typeface="EFCO Brookshire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040773" y="3313480"/>
            <a:ext cx="3293882" cy="392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US" sz="3399" b="1" spc="-50" dirty="0" err="1">
                <a:solidFill>
                  <a:srgbClr val="56091F"/>
                </a:solidFill>
                <a:latin typeface="Amasis MT Pro Black" panose="02040A04050005020304" pitchFamily="18" charset="0"/>
                <a:ea typeface="Poppins Semi-Bold"/>
                <a:cs typeface="Poppins Semi-Bold"/>
                <a:sym typeface="Poppins Semi-Bold"/>
              </a:rPr>
              <a:t>Bagi</a:t>
            </a:r>
            <a:r>
              <a:rPr lang="en-US" sz="3399" b="1" spc="-50" dirty="0">
                <a:solidFill>
                  <a:srgbClr val="56091F"/>
                </a:solidFill>
                <a:latin typeface="Amasis MT Pro Black" panose="02040A04050005020304" pitchFamily="18" charset="0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3399" b="1" spc="-50" dirty="0" err="1">
                <a:solidFill>
                  <a:srgbClr val="56091F"/>
                </a:solidFill>
                <a:latin typeface="Amasis MT Pro Black" panose="02040A04050005020304" pitchFamily="18" charset="0"/>
                <a:ea typeface="Poppins Semi-Bold"/>
                <a:cs typeface="Poppins Semi-Bold"/>
                <a:sym typeface="Poppins Semi-Bold"/>
              </a:rPr>
              <a:t>Sekolah</a:t>
            </a:r>
            <a:endParaRPr lang="en-US" sz="3399" b="1" spc="-50" dirty="0">
              <a:solidFill>
                <a:srgbClr val="56091F"/>
              </a:solidFill>
              <a:latin typeface="Amasis MT Pro Black" panose="02040A04050005020304" pitchFamily="18" charset="0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430371" y="4185852"/>
            <a:ext cx="4514687" cy="483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</a:pP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Jaringan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yang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stabil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dan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aman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dapat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meningkatkan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efektivitas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proses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pembelajaran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.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Siswa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dapat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mengakses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internet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untuk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mencari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materi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pembelajaran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,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sementara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guru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dapat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memanfaatkannya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untuk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mencari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referensi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. Hal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ini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akan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meningkatkan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kualitas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kegiatan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belajar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mengajar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secara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keseluruhan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40170" y="4594067"/>
            <a:ext cx="4177362" cy="3926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1"/>
              </a:lnSpc>
            </a:pP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Siswa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akan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memiliki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kemampuan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untuk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membangun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jaringan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komputer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yang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stabil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dan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aman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, yang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tentunya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menjadi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nilai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tambah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yang sangat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berarti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bagi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masa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depan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mereka</a:t>
            </a:r>
            <a:endParaRPr lang="en-US" sz="3600" spc="-41" dirty="0">
              <a:solidFill>
                <a:srgbClr val="56091F"/>
              </a:solidFill>
              <a:latin typeface="Trade Gothic Next Heavy" panose="020B0903040303020004" pitchFamily="34" charset="0"/>
              <a:ea typeface="Poppins"/>
              <a:cs typeface="Poppins"/>
              <a:sym typeface="Poppi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925409" y="3244393"/>
            <a:ext cx="2437183" cy="392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US" sz="3200" b="1" spc="-50" dirty="0" err="1">
                <a:solidFill>
                  <a:srgbClr val="56091F"/>
                </a:solidFill>
                <a:latin typeface="Amasis MT Pro Black" panose="02040A04050005020304" pitchFamily="18" charset="0"/>
                <a:ea typeface="Poppins Semi-Bold"/>
                <a:cs typeface="Poppins Semi-Bold"/>
                <a:sym typeface="Poppins Semi-Bold"/>
              </a:rPr>
              <a:t>Bagi</a:t>
            </a:r>
            <a:r>
              <a:rPr lang="en-US" sz="3200" b="1" spc="-50" dirty="0">
                <a:solidFill>
                  <a:srgbClr val="56091F"/>
                </a:solidFill>
                <a:latin typeface="Amasis MT Pro Black" panose="02040A04050005020304" pitchFamily="18" charset="0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3200" b="1" spc="-50" dirty="0" err="1">
                <a:solidFill>
                  <a:srgbClr val="56091F"/>
                </a:solidFill>
                <a:latin typeface="Amasis MT Pro Black" panose="02040A04050005020304" pitchFamily="18" charset="0"/>
                <a:ea typeface="Poppins Semi-Bold"/>
                <a:cs typeface="Poppins Semi-Bold"/>
                <a:sym typeface="Poppins Semi-Bold"/>
              </a:rPr>
              <a:t>Siswa</a:t>
            </a:r>
            <a:endParaRPr lang="en-US" sz="3200" b="1" spc="-50" dirty="0">
              <a:solidFill>
                <a:srgbClr val="56091F"/>
              </a:solidFill>
              <a:latin typeface="Amasis MT Pro Black" panose="02040A04050005020304" pitchFamily="18" charset="0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721535" y="4129827"/>
            <a:ext cx="4329025" cy="4770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5"/>
              </a:lnSpc>
            </a:pP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Masyarakat juga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akan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diuntungkan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karena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akan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lebih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mudah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mengakses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internet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dengan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cepat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dan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aman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. Hal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ini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sangat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penting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,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terutama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bagi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bisnis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online,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lembaga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pendidikan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,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maupun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rumah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sakit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, di mana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ketersediaan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jaringan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yang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baik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menjadi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faktor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yang sangat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diperlukan</a:t>
            </a:r>
            <a:endParaRPr lang="en-US" sz="2800" spc="-37" dirty="0">
              <a:solidFill>
                <a:srgbClr val="56091F"/>
              </a:solidFill>
              <a:latin typeface="Trade Gothic Next Heavy" panose="020B0903040303020004" pitchFamily="34" charset="0"/>
              <a:ea typeface="Poppins"/>
              <a:cs typeface="Poppins"/>
              <a:sym typeface="Poppin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930275" y="3244393"/>
            <a:ext cx="3855460" cy="392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US" sz="3399" b="1" spc="-50" dirty="0" err="1">
                <a:solidFill>
                  <a:srgbClr val="56091F"/>
                </a:solidFill>
                <a:latin typeface="Amasis MT Pro Black" panose="02040A04050005020304" pitchFamily="18" charset="0"/>
                <a:ea typeface="Poppins Semi-Bold"/>
                <a:cs typeface="Poppins Semi-Bold"/>
                <a:sym typeface="Poppins Semi-Bold"/>
              </a:rPr>
              <a:t>Bagi</a:t>
            </a:r>
            <a:r>
              <a:rPr lang="en-US" sz="3399" b="1" spc="-50" dirty="0">
                <a:solidFill>
                  <a:srgbClr val="56091F"/>
                </a:solidFill>
                <a:latin typeface="Amasis MT Pro Black" panose="02040A04050005020304" pitchFamily="18" charset="0"/>
                <a:ea typeface="Poppins Semi-Bold"/>
                <a:cs typeface="Poppins Semi-Bold"/>
                <a:sym typeface="Poppins Semi-Bold"/>
              </a:rPr>
              <a:t> Masyarakat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CF5D3D38-9BD2-FD0E-F4EC-91018E07E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C27B5184-A96D-E474-4465-95A3EB554F4D}"/>
              </a:ext>
            </a:extLst>
          </p:cNvPr>
          <p:cNvSpPr/>
          <p:nvPr/>
        </p:nvSpPr>
        <p:spPr>
          <a:xfrm>
            <a:off x="-515962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2" y="0"/>
                </a:lnTo>
                <a:lnTo>
                  <a:pt x="13194772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xmlns="" id="{E3A2F1A4-CACD-E0FA-2386-1EBC4FF1DCA7}"/>
              </a:ext>
            </a:extLst>
          </p:cNvPr>
          <p:cNvSpPr/>
          <p:nvPr/>
        </p:nvSpPr>
        <p:spPr>
          <a:xfrm>
            <a:off x="10188348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xmlns="" id="{EB0605F2-A6EA-429E-66CB-A1758AB021DC}"/>
              </a:ext>
            </a:extLst>
          </p:cNvPr>
          <p:cNvSpPr/>
          <p:nvPr/>
        </p:nvSpPr>
        <p:spPr>
          <a:xfrm rot="-5085271">
            <a:off x="-2989403" y="5387158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0"/>
                </a:moveTo>
                <a:lnTo>
                  <a:pt x="7610491" y="0"/>
                </a:lnTo>
                <a:lnTo>
                  <a:pt x="7610491" y="6877116"/>
                </a:lnTo>
                <a:lnTo>
                  <a:pt x="0" y="68771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DCE3D6C0-5C38-1964-F332-8C88CFE011B2}"/>
              </a:ext>
            </a:extLst>
          </p:cNvPr>
          <p:cNvSpPr/>
          <p:nvPr/>
        </p:nvSpPr>
        <p:spPr>
          <a:xfrm rot="-6051617" flipV="1">
            <a:off x="14007855" y="5420410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6877116"/>
                </a:moveTo>
                <a:lnTo>
                  <a:pt x="7610490" y="6877116"/>
                </a:lnTo>
                <a:lnTo>
                  <a:pt x="7610490" y="0"/>
                </a:lnTo>
                <a:lnTo>
                  <a:pt x="0" y="0"/>
                </a:lnTo>
                <a:lnTo>
                  <a:pt x="0" y="68771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xmlns="" id="{7C16F6B1-E153-2DF3-3038-617C9314D6F3}"/>
              </a:ext>
            </a:extLst>
          </p:cNvPr>
          <p:cNvGrpSpPr/>
          <p:nvPr/>
        </p:nvGrpSpPr>
        <p:grpSpPr>
          <a:xfrm>
            <a:off x="1397331" y="3885929"/>
            <a:ext cx="4787419" cy="5372371"/>
            <a:chOff x="0" y="0"/>
            <a:chExt cx="1260884" cy="1414946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4AA18392-BBB2-4864-26D4-4994D75D06E4}"/>
                </a:ext>
              </a:extLst>
            </p:cNvPr>
            <p:cNvSpPr/>
            <p:nvPr/>
          </p:nvSpPr>
          <p:spPr>
            <a:xfrm>
              <a:off x="0" y="0"/>
              <a:ext cx="1260884" cy="1414946"/>
            </a:xfrm>
            <a:custGeom>
              <a:avLst/>
              <a:gdLst/>
              <a:ahLst/>
              <a:cxnLst/>
              <a:rect l="l" t="t" r="r" b="b"/>
              <a:pathLst>
                <a:path w="1260884" h="1414946">
                  <a:moveTo>
                    <a:pt x="53366" y="0"/>
                  </a:moveTo>
                  <a:lnTo>
                    <a:pt x="1207519" y="0"/>
                  </a:lnTo>
                  <a:cubicBezTo>
                    <a:pt x="1236992" y="0"/>
                    <a:pt x="1260884" y="23893"/>
                    <a:pt x="1260884" y="53366"/>
                  </a:cubicBezTo>
                  <a:lnTo>
                    <a:pt x="1260884" y="1361580"/>
                  </a:lnTo>
                  <a:cubicBezTo>
                    <a:pt x="1260884" y="1391053"/>
                    <a:pt x="1236992" y="1414946"/>
                    <a:pt x="1207519" y="1414946"/>
                  </a:cubicBezTo>
                  <a:lnTo>
                    <a:pt x="53366" y="1414946"/>
                  </a:lnTo>
                  <a:cubicBezTo>
                    <a:pt x="23893" y="1414946"/>
                    <a:pt x="0" y="1391053"/>
                    <a:pt x="0" y="1361580"/>
                  </a:cubicBezTo>
                  <a:lnTo>
                    <a:pt x="0" y="53366"/>
                  </a:lnTo>
                  <a:cubicBezTo>
                    <a:pt x="0" y="23893"/>
                    <a:pt x="23893" y="0"/>
                    <a:pt x="53366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xmlns="" id="{3B93FA95-E744-34CE-638C-170F7B7AD98C}"/>
                </a:ext>
              </a:extLst>
            </p:cNvPr>
            <p:cNvSpPr txBox="1"/>
            <p:nvPr/>
          </p:nvSpPr>
          <p:spPr>
            <a:xfrm>
              <a:off x="0" y="-57150"/>
              <a:ext cx="1260884" cy="1472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xmlns="" id="{EF6DCE5A-0053-3A56-0F9F-EE6A7394CF76}"/>
              </a:ext>
            </a:extLst>
          </p:cNvPr>
          <p:cNvGrpSpPr/>
          <p:nvPr/>
        </p:nvGrpSpPr>
        <p:grpSpPr>
          <a:xfrm>
            <a:off x="6635142" y="3885929"/>
            <a:ext cx="4787419" cy="5372371"/>
            <a:chOff x="0" y="0"/>
            <a:chExt cx="1260884" cy="1414946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xmlns="" id="{97B8141B-C7B2-70E2-FA7C-C9C003FE71F9}"/>
                </a:ext>
              </a:extLst>
            </p:cNvPr>
            <p:cNvSpPr/>
            <p:nvPr/>
          </p:nvSpPr>
          <p:spPr>
            <a:xfrm>
              <a:off x="0" y="0"/>
              <a:ext cx="1260884" cy="1414946"/>
            </a:xfrm>
            <a:custGeom>
              <a:avLst/>
              <a:gdLst/>
              <a:ahLst/>
              <a:cxnLst/>
              <a:rect l="l" t="t" r="r" b="b"/>
              <a:pathLst>
                <a:path w="1260884" h="1414946">
                  <a:moveTo>
                    <a:pt x="53366" y="0"/>
                  </a:moveTo>
                  <a:lnTo>
                    <a:pt x="1207519" y="0"/>
                  </a:lnTo>
                  <a:cubicBezTo>
                    <a:pt x="1236992" y="0"/>
                    <a:pt x="1260884" y="23893"/>
                    <a:pt x="1260884" y="53366"/>
                  </a:cubicBezTo>
                  <a:lnTo>
                    <a:pt x="1260884" y="1361580"/>
                  </a:lnTo>
                  <a:cubicBezTo>
                    <a:pt x="1260884" y="1391053"/>
                    <a:pt x="1236992" y="1414946"/>
                    <a:pt x="1207519" y="1414946"/>
                  </a:cubicBezTo>
                  <a:lnTo>
                    <a:pt x="53366" y="1414946"/>
                  </a:lnTo>
                  <a:cubicBezTo>
                    <a:pt x="23893" y="1414946"/>
                    <a:pt x="0" y="1391053"/>
                    <a:pt x="0" y="1361580"/>
                  </a:cubicBezTo>
                  <a:lnTo>
                    <a:pt x="0" y="53366"/>
                  </a:lnTo>
                  <a:cubicBezTo>
                    <a:pt x="0" y="23893"/>
                    <a:pt x="23893" y="0"/>
                    <a:pt x="53366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xmlns="" id="{7EF4436A-837C-D769-1960-790214ABD01C}"/>
                </a:ext>
              </a:extLst>
            </p:cNvPr>
            <p:cNvSpPr txBox="1"/>
            <p:nvPr/>
          </p:nvSpPr>
          <p:spPr>
            <a:xfrm>
              <a:off x="0" y="-57150"/>
              <a:ext cx="1260884" cy="1472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xmlns="" id="{0BB1A526-72C3-74FD-9426-3D8724D829FA}"/>
              </a:ext>
            </a:extLst>
          </p:cNvPr>
          <p:cNvGrpSpPr/>
          <p:nvPr/>
        </p:nvGrpSpPr>
        <p:grpSpPr>
          <a:xfrm>
            <a:off x="12471881" y="3885929"/>
            <a:ext cx="4787419" cy="5372371"/>
            <a:chOff x="0" y="0"/>
            <a:chExt cx="1260884" cy="1414946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xmlns="" id="{5B44EC6B-45FE-0F3B-08F4-0AAD9A92C671}"/>
                </a:ext>
              </a:extLst>
            </p:cNvPr>
            <p:cNvSpPr/>
            <p:nvPr/>
          </p:nvSpPr>
          <p:spPr>
            <a:xfrm>
              <a:off x="0" y="0"/>
              <a:ext cx="1260884" cy="1414946"/>
            </a:xfrm>
            <a:custGeom>
              <a:avLst/>
              <a:gdLst/>
              <a:ahLst/>
              <a:cxnLst/>
              <a:rect l="l" t="t" r="r" b="b"/>
              <a:pathLst>
                <a:path w="1260884" h="1414946">
                  <a:moveTo>
                    <a:pt x="53366" y="0"/>
                  </a:moveTo>
                  <a:lnTo>
                    <a:pt x="1207519" y="0"/>
                  </a:lnTo>
                  <a:cubicBezTo>
                    <a:pt x="1236992" y="0"/>
                    <a:pt x="1260884" y="23893"/>
                    <a:pt x="1260884" y="53366"/>
                  </a:cubicBezTo>
                  <a:lnTo>
                    <a:pt x="1260884" y="1361580"/>
                  </a:lnTo>
                  <a:cubicBezTo>
                    <a:pt x="1260884" y="1391053"/>
                    <a:pt x="1236992" y="1414946"/>
                    <a:pt x="1207519" y="1414946"/>
                  </a:cubicBezTo>
                  <a:lnTo>
                    <a:pt x="53366" y="1414946"/>
                  </a:lnTo>
                  <a:cubicBezTo>
                    <a:pt x="23893" y="1414946"/>
                    <a:pt x="0" y="1391053"/>
                    <a:pt x="0" y="1361580"/>
                  </a:cubicBezTo>
                  <a:lnTo>
                    <a:pt x="0" y="53366"/>
                  </a:lnTo>
                  <a:cubicBezTo>
                    <a:pt x="0" y="23893"/>
                    <a:pt x="23893" y="0"/>
                    <a:pt x="53366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xmlns="" id="{8A88B8BD-C97B-DDD7-F3CB-5B13B591A301}"/>
                </a:ext>
              </a:extLst>
            </p:cNvPr>
            <p:cNvSpPr txBox="1"/>
            <p:nvPr/>
          </p:nvSpPr>
          <p:spPr>
            <a:xfrm>
              <a:off x="0" y="-57150"/>
              <a:ext cx="1260884" cy="1472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xmlns="" id="{25E35DE3-6C4E-4905-C97C-943F0B1B2F37}"/>
              </a:ext>
            </a:extLst>
          </p:cNvPr>
          <p:cNvSpPr txBox="1"/>
          <p:nvPr/>
        </p:nvSpPr>
        <p:spPr>
          <a:xfrm>
            <a:off x="1566737" y="875010"/>
            <a:ext cx="15483824" cy="1902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84"/>
              </a:lnSpc>
            </a:pPr>
            <a:r>
              <a:rPr lang="en-US" sz="13596" spc="-285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kajian</a:t>
            </a:r>
            <a:r>
              <a:rPr lang="en-US" sz="13596" spc="-285" dirty="0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 </a:t>
            </a:r>
            <a:r>
              <a:rPr lang="en-US" sz="13596" spc="-285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teori</a:t>
            </a:r>
            <a:endParaRPr lang="en-US" sz="13596" spc="-285" dirty="0">
              <a:solidFill>
                <a:srgbClr val="F9AABB"/>
              </a:solidFill>
              <a:latin typeface="EFCO Brookshire"/>
              <a:ea typeface="EFCO Brookshire"/>
              <a:cs typeface="EFCO Brookshire"/>
              <a:sym typeface="EFCO Brookshire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xmlns="" id="{E1EEC100-A267-3F24-3C0A-6D7DBA7AA501}"/>
              </a:ext>
            </a:extLst>
          </p:cNvPr>
          <p:cNvSpPr txBox="1"/>
          <p:nvPr/>
        </p:nvSpPr>
        <p:spPr>
          <a:xfrm>
            <a:off x="2105671" y="3299544"/>
            <a:ext cx="3293882" cy="436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US" sz="4800" b="1" spc="-50" dirty="0">
                <a:solidFill>
                  <a:srgbClr val="56091F"/>
                </a:solidFill>
                <a:latin typeface="Amasis MT Pro Black" panose="02040A04050005020304" pitchFamily="18" charset="0"/>
                <a:ea typeface="Poppins Semi-Bold"/>
                <a:cs typeface="Poppins Semi-Bold"/>
                <a:sym typeface="Poppins Semi-Bold"/>
              </a:rPr>
              <a:t>Internet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xmlns="" id="{F210C7B8-9C13-8936-4DFE-A908BEB5022A}"/>
              </a:ext>
            </a:extLst>
          </p:cNvPr>
          <p:cNvSpPr txBox="1"/>
          <p:nvPr/>
        </p:nvSpPr>
        <p:spPr>
          <a:xfrm>
            <a:off x="1533696" y="4513377"/>
            <a:ext cx="4514687" cy="411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</a:pP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Internet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adalah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jaringan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global yang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tidak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ada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yang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sepenuhnya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bertanggung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jawab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atas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penggunaannya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.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Awalnya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digunakan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untuk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kepentingan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militer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,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kini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internet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menjadi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kebutuhan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dan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hiburan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masyarakat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(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Sarwono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, 2012).</a:t>
            </a:r>
            <a:endParaRPr lang="en-US" sz="3600" spc="-35" dirty="0">
              <a:solidFill>
                <a:srgbClr val="56091F"/>
              </a:solidFill>
              <a:latin typeface="Trade Gothic Next HvyCd" panose="020B0906040303020004" pitchFamily="34" charset="0"/>
              <a:ea typeface="Poppins"/>
              <a:cs typeface="Poppins"/>
              <a:sym typeface="Poppins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xmlns="" id="{18986FA4-D042-7560-A2C5-833638C40BAD}"/>
              </a:ext>
            </a:extLst>
          </p:cNvPr>
          <p:cNvSpPr txBox="1"/>
          <p:nvPr/>
        </p:nvSpPr>
        <p:spPr>
          <a:xfrm>
            <a:off x="6843683" y="4460222"/>
            <a:ext cx="4177362" cy="4362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1"/>
              </a:lnSpc>
            </a:pP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Mikrotik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RB951 Ui-2HnD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adalah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perangkat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keras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MikroTik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dalam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bentuk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routerboard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(RB) yang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dapat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langsung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digunakan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tanpa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perlu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instalasi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sistem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operasi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(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Sayuti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,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Irwansyah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, Muhammad, &amp;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Davizan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, 2024).</a:t>
            </a:r>
            <a:endParaRPr lang="en-US" sz="3600" spc="-41" dirty="0">
              <a:solidFill>
                <a:srgbClr val="56091F"/>
              </a:solidFill>
              <a:latin typeface="Trade Gothic Next HvyCd" panose="020B0906040303020004" pitchFamily="34" charset="0"/>
              <a:ea typeface="Poppins"/>
              <a:cs typeface="Poppins"/>
              <a:sym typeface="Poppins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xmlns="" id="{CB25C561-8115-D36A-193A-3930C182861D}"/>
              </a:ext>
            </a:extLst>
          </p:cNvPr>
          <p:cNvSpPr txBox="1"/>
          <p:nvPr/>
        </p:nvSpPr>
        <p:spPr>
          <a:xfrm>
            <a:off x="6900497" y="3280237"/>
            <a:ext cx="4295008" cy="4111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ID" sz="3600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MikroTik</a:t>
            </a:r>
            <a:r>
              <a:rPr lang="en-ID" sz="36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36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RB951</a:t>
            </a:r>
            <a:endParaRPr lang="en-ID" sz="3600" dirty="0">
              <a:solidFill>
                <a:srgbClr val="56091F"/>
              </a:solidFill>
              <a:effectLst/>
              <a:latin typeface="Amasis MT Pro Black" panose="02040A040500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xmlns="" id="{55E3DA73-C1CB-5537-726C-22604E224F1C}"/>
              </a:ext>
            </a:extLst>
          </p:cNvPr>
          <p:cNvSpPr txBox="1"/>
          <p:nvPr/>
        </p:nvSpPr>
        <p:spPr>
          <a:xfrm>
            <a:off x="12664970" y="4976068"/>
            <a:ext cx="4329025" cy="3192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5"/>
              </a:lnSpc>
            </a:pPr>
            <a:r>
              <a:rPr lang="en-ID" sz="36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Komputer</a:t>
            </a:r>
            <a:r>
              <a:rPr lang="en-ID" sz="36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adalah</a:t>
            </a:r>
            <a:r>
              <a:rPr lang="en-ID" sz="36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peralatan</a:t>
            </a:r>
            <a:r>
              <a:rPr lang="en-ID" sz="36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elektronik</a:t>
            </a:r>
            <a:r>
              <a:rPr lang="en-ID" sz="36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ID" sz="36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menerima</a:t>
            </a:r>
            <a:r>
              <a:rPr lang="en-ID" sz="36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masukan</a:t>
            </a:r>
            <a:r>
              <a:rPr lang="en-ID" sz="36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data,dalam</a:t>
            </a:r>
            <a:r>
              <a:rPr lang="en-ID" sz="36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mengolah</a:t>
            </a:r>
            <a:r>
              <a:rPr lang="en-ID" sz="36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dan </a:t>
            </a:r>
            <a:r>
              <a:rPr lang="en-ID" sz="36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memberikan</a:t>
            </a:r>
            <a:r>
              <a:rPr lang="en-ID" sz="36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hasil</a:t>
            </a:r>
            <a:r>
              <a:rPr lang="en-ID" sz="36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keluaran</a:t>
            </a:r>
            <a:r>
              <a:rPr lang="en-ID" sz="36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gambar</a:t>
            </a:r>
            <a:r>
              <a:rPr lang="en-ID" sz="36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, </a:t>
            </a:r>
            <a:r>
              <a:rPr lang="en-ID" sz="36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teks</a:t>
            </a:r>
            <a:r>
              <a:rPr lang="en-ID" sz="36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, </a:t>
            </a:r>
            <a:r>
              <a:rPr lang="en-ID" sz="36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suara</a:t>
            </a:r>
            <a:r>
              <a:rPr lang="en-ID" sz="36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ataupun</a:t>
            </a:r>
            <a:r>
              <a:rPr lang="en-ID" sz="36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video </a:t>
            </a:r>
            <a:r>
              <a:rPr lang="en-US" sz="3600" b="1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600" b="1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Anugrah</a:t>
            </a:r>
            <a:r>
              <a:rPr lang="en-US" sz="3600" b="1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2023)</a:t>
            </a:r>
            <a:r>
              <a:rPr lang="en-ID" sz="3600" b="1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D" sz="3600" dirty="0">
              <a:solidFill>
                <a:srgbClr val="56091F"/>
              </a:solidFill>
              <a:effectLst/>
              <a:latin typeface="Trade Gothic Next HvyCd" panose="020B09060403030200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xmlns="" id="{B4B74A91-E784-FFA2-4D3C-AE458DB99956}"/>
              </a:ext>
            </a:extLst>
          </p:cNvPr>
          <p:cNvSpPr txBox="1"/>
          <p:nvPr/>
        </p:nvSpPr>
        <p:spPr>
          <a:xfrm>
            <a:off x="12930275" y="3244393"/>
            <a:ext cx="3855460" cy="435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US" sz="4800" b="1" spc="-50" dirty="0" err="1">
                <a:solidFill>
                  <a:srgbClr val="56091F"/>
                </a:solidFill>
                <a:latin typeface="Amasis MT Pro Black" panose="02040A04050005020304" pitchFamily="18" charset="0"/>
                <a:ea typeface="Poppins Semi-Bold"/>
                <a:cs typeface="Poppins Semi-Bold"/>
                <a:sym typeface="Poppins Semi-Bold"/>
              </a:rPr>
              <a:t>Komputer</a:t>
            </a:r>
            <a:endParaRPr lang="en-US" sz="4800" b="1" spc="-50" dirty="0">
              <a:solidFill>
                <a:srgbClr val="56091F"/>
              </a:solidFill>
              <a:latin typeface="Amasis MT Pro Black" panose="02040A04050005020304" pitchFamily="18" charset="0"/>
              <a:ea typeface="Poppins Semi-Bold"/>
              <a:cs typeface="Poppins Semi-Bold"/>
              <a:sym typeface="Poppins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660660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65585510-8694-12AE-189C-07DC2EF4A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D2AD9995-2422-F13E-C454-DE46A285F913}"/>
              </a:ext>
            </a:extLst>
          </p:cNvPr>
          <p:cNvSpPr/>
          <p:nvPr/>
        </p:nvSpPr>
        <p:spPr>
          <a:xfrm>
            <a:off x="-515962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2" y="0"/>
                </a:lnTo>
                <a:lnTo>
                  <a:pt x="13194772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xmlns="" id="{FA98E232-D3C9-48B8-7FFB-9F95FA6A99B3}"/>
              </a:ext>
            </a:extLst>
          </p:cNvPr>
          <p:cNvSpPr/>
          <p:nvPr/>
        </p:nvSpPr>
        <p:spPr>
          <a:xfrm>
            <a:off x="10188348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xmlns="" id="{3C4368F4-E74C-3C9E-CDC4-929D8EBA7D26}"/>
              </a:ext>
            </a:extLst>
          </p:cNvPr>
          <p:cNvSpPr/>
          <p:nvPr/>
        </p:nvSpPr>
        <p:spPr>
          <a:xfrm rot="-5085271">
            <a:off x="-2989403" y="5387158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0"/>
                </a:moveTo>
                <a:lnTo>
                  <a:pt x="7610491" y="0"/>
                </a:lnTo>
                <a:lnTo>
                  <a:pt x="7610491" y="6877116"/>
                </a:lnTo>
                <a:lnTo>
                  <a:pt x="0" y="68771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80CDAAB1-E817-3F9A-CEA4-7A708B06BA75}"/>
              </a:ext>
            </a:extLst>
          </p:cNvPr>
          <p:cNvSpPr/>
          <p:nvPr/>
        </p:nvSpPr>
        <p:spPr>
          <a:xfrm rot="-6051617" flipV="1">
            <a:off x="14007855" y="5420410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6877116"/>
                </a:moveTo>
                <a:lnTo>
                  <a:pt x="7610490" y="6877116"/>
                </a:lnTo>
                <a:lnTo>
                  <a:pt x="7610490" y="0"/>
                </a:lnTo>
                <a:lnTo>
                  <a:pt x="0" y="0"/>
                </a:lnTo>
                <a:lnTo>
                  <a:pt x="0" y="68771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xmlns="" id="{7BC504CF-B61C-8415-D42E-206477166F0A}"/>
              </a:ext>
            </a:extLst>
          </p:cNvPr>
          <p:cNvGrpSpPr/>
          <p:nvPr/>
        </p:nvGrpSpPr>
        <p:grpSpPr>
          <a:xfrm>
            <a:off x="4210598" y="3581226"/>
            <a:ext cx="4787419" cy="5372371"/>
            <a:chOff x="0" y="0"/>
            <a:chExt cx="1260884" cy="1414946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7EBD6D5B-B64F-F276-78C4-23D64E794C08}"/>
                </a:ext>
              </a:extLst>
            </p:cNvPr>
            <p:cNvSpPr/>
            <p:nvPr/>
          </p:nvSpPr>
          <p:spPr>
            <a:xfrm>
              <a:off x="0" y="0"/>
              <a:ext cx="1260884" cy="1414946"/>
            </a:xfrm>
            <a:custGeom>
              <a:avLst/>
              <a:gdLst/>
              <a:ahLst/>
              <a:cxnLst/>
              <a:rect l="l" t="t" r="r" b="b"/>
              <a:pathLst>
                <a:path w="1260884" h="1414946">
                  <a:moveTo>
                    <a:pt x="53366" y="0"/>
                  </a:moveTo>
                  <a:lnTo>
                    <a:pt x="1207519" y="0"/>
                  </a:lnTo>
                  <a:cubicBezTo>
                    <a:pt x="1236992" y="0"/>
                    <a:pt x="1260884" y="23893"/>
                    <a:pt x="1260884" y="53366"/>
                  </a:cubicBezTo>
                  <a:lnTo>
                    <a:pt x="1260884" y="1361580"/>
                  </a:lnTo>
                  <a:cubicBezTo>
                    <a:pt x="1260884" y="1391053"/>
                    <a:pt x="1236992" y="1414946"/>
                    <a:pt x="1207519" y="1414946"/>
                  </a:cubicBezTo>
                  <a:lnTo>
                    <a:pt x="53366" y="1414946"/>
                  </a:lnTo>
                  <a:cubicBezTo>
                    <a:pt x="23893" y="1414946"/>
                    <a:pt x="0" y="1391053"/>
                    <a:pt x="0" y="1361580"/>
                  </a:cubicBezTo>
                  <a:lnTo>
                    <a:pt x="0" y="53366"/>
                  </a:lnTo>
                  <a:cubicBezTo>
                    <a:pt x="0" y="23893"/>
                    <a:pt x="23893" y="0"/>
                    <a:pt x="53366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xmlns="" id="{15328C62-5AB3-EA2A-F7C0-F7FDECD4229D}"/>
                </a:ext>
              </a:extLst>
            </p:cNvPr>
            <p:cNvSpPr txBox="1"/>
            <p:nvPr/>
          </p:nvSpPr>
          <p:spPr>
            <a:xfrm>
              <a:off x="0" y="-57150"/>
              <a:ext cx="1260884" cy="1472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xmlns="" id="{0F380DC2-AB4B-F632-4C9A-207A44136B9E}"/>
              </a:ext>
            </a:extLst>
          </p:cNvPr>
          <p:cNvGrpSpPr/>
          <p:nvPr/>
        </p:nvGrpSpPr>
        <p:grpSpPr>
          <a:xfrm>
            <a:off x="9664858" y="3467892"/>
            <a:ext cx="5156441" cy="5589362"/>
            <a:chOff x="-97191" y="-57150"/>
            <a:chExt cx="1358075" cy="1472096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xmlns="" id="{0A664630-8AD1-AF17-CD09-60B67E578F27}"/>
                </a:ext>
              </a:extLst>
            </p:cNvPr>
            <p:cNvSpPr/>
            <p:nvPr/>
          </p:nvSpPr>
          <p:spPr>
            <a:xfrm>
              <a:off x="-97191" y="-35316"/>
              <a:ext cx="1260884" cy="1414946"/>
            </a:xfrm>
            <a:custGeom>
              <a:avLst/>
              <a:gdLst/>
              <a:ahLst/>
              <a:cxnLst/>
              <a:rect l="l" t="t" r="r" b="b"/>
              <a:pathLst>
                <a:path w="1260884" h="1414946">
                  <a:moveTo>
                    <a:pt x="53366" y="0"/>
                  </a:moveTo>
                  <a:lnTo>
                    <a:pt x="1207519" y="0"/>
                  </a:lnTo>
                  <a:cubicBezTo>
                    <a:pt x="1236992" y="0"/>
                    <a:pt x="1260884" y="23893"/>
                    <a:pt x="1260884" y="53366"/>
                  </a:cubicBezTo>
                  <a:lnTo>
                    <a:pt x="1260884" y="1361580"/>
                  </a:lnTo>
                  <a:cubicBezTo>
                    <a:pt x="1260884" y="1391053"/>
                    <a:pt x="1236992" y="1414946"/>
                    <a:pt x="1207519" y="1414946"/>
                  </a:cubicBezTo>
                  <a:lnTo>
                    <a:pt x="53366" y="1414946"/>
                  </a:lnTo>
                  <a:cubicBezTo>
                    <a:pt x="23893" y="1414946"/>
                    <a:pt x="0" y="1391053"/>
                    <a:pt x="0" y="1361580"/>
                  </a:cubicBezTo>
                  <a:lnTo>
                    <a:pt x="0" y="53366"/>
                  </a:lnTo>
                  <a:cubicBezTo>
                    <a:pt x="0" y="23893"/>
                    <a:pt x="23893" y="0"/>
                    <a:pt x="53366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xmlns="" id="{CD58ED34-9D83-2B26-BD5B-0B6CF231AA2B}"/>
                </a:ext>
              </a:extLst>
            </p:cNvPr>
            <p:cNvSpPr txBox="1"/>
            <p:nvPr/>
          </p:nvSpPr>
          <p:spPr>
            <a:xfrm>
              <a:off x="0" y="-57150"/>
              <a:ext cx="1260884" cy="1472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xmlns="" id="{2E007CB3-1C77-6C37-AB33-DE26B453D901}"/>
              </a:ext>
            </a:extLst>
          </p:cNvPr>
          <p:cNvSpPr txBox="1"/>
          <p:nvPr/>
        </p:nvSpPr>
        <p:spPr>
          <a:xfrm>
            <a:off x="1566737" y="875010"/>
            <a:ext cx="15483824" cy="1902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84"/>
              </a:lnSpc>
            </a:pPr>
            <a:r>
              <a:rPr lang="en-US" sz="13596" spc="-285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kajian</a:t>
            </a:r>
            <a:r>
              <a:rPr lang="en-US" sz="13596" spc="-285" dirty="0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 </a:t>
            </a:r>
            <a:r>
              <a:rPr lang="en-US" sz="13596" spc="-285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teori</a:t>
            </a:r>
            <a:endParaRPr lang="en-US" sz="13596" spc="-285" dirty="0">
              <a:solidFill>
                <a:srgbClr val="F9AABB"/>
              </a:solidFill>
              <a:latin typeface="EFCO Brookshire"/>
              <a:ea typeface="EFCO Brookshire"/>
              <a:cs typeface="EFCO Brookshire"/>
              <a:sym typeface="EFCO Brookshire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xmlns="" id="{6CFB2A4F-7BF7-F001-675F-B7E8D4056711}"/>
              </a:ext>
            </a:extLst>
          </p:cNvPr>
          <p:cNvSpPr txBox="1"/>
          <p:nvPr/>
        </p:nvSpPr>
        <p:spPr>
          <a:xfrm>
            <a:off x="5037072" y="3153526"/>
            <a:ext cx="3293882" cy="436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US" sz="4800" b="1" spc="-50" dirty="0">
                <a:solidFill>
                  <a:srgbClr val="56091F"/>
                </a:solidFill>
                <a:latin typeface="Amasis MT Pro Black" panose="02040A04050005020304" pitchFamily="18" charset="0"/>
                <a:ea typeface="Poppins Semi-Bold"/>
                <a:cs typeface="Poppins Semi-Bold"/>
                <a:sym typeface="Poppins Semi-Bold"/>
              </a:rPr>
              <a:t>RJ 45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xmlns="" id="{18500FC6-DE94-A354-0606-DB008332C13D}"/>
              </a:ext>
            </a:extLst>
          </p:cNvPr>
          <p:cNvSpPr txBox="1"/>
          <p:nvPr/>
        </p:nvSpPr>
        <p:spPr>
          <a:xfrm>
            <a:off x="4476915" y="4403090"/>
            <a:ext cx="4514687" cy="3718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</a:pPr>
            <a:r>
              <a:rPr lang="en-ID" sz="28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RJ45 </a:t>
            </a:r>
            <a:r>
              <a:rPr lang="en-ID" sz="2800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adalah</a:t>
            </a:r>
            <a:r>
              <a:rPr lang="en-ID" sz="28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 </a:t>
            </a:r>
            <a:r>
              <a:rPr lang="en-ID" sz="2800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konektor</a:t>
            </a:r>
            <a:r>
              <a:rPr lang="en-ID" sz="28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 </a:t>
            </a:r>
            <a:r>
              <a:rPr lang="en-ID" sz="2800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kabel</a:t>
            </a:r>
            <a:r>
              <a:rPr lang="en-ID" sz="28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 ethernet yang </a:t>
            </a:r>
            <a:r>
              <a:rPr lang="en-ID" sz="28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</a:rPr>
              <a:t>kebanyakan</a:t>
            </a:r>
            <a:r>
              <a:rPr lang="en-ID" sz="28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 </a:t>
            </a:r>
            <a:r>
              <a:rPr lang="en-ID" sz="2800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memiliki</a:t>
            </a:r>
            <a:r>
              <a:rPr lang="en-ID" sz="28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 </a:t>
            </a:r>
            <a:r>
              <a:rPr lang="en-ID" sz="2800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fungsi</a:t>
            </a:r>
            <a:r>
              <a:rPr lang="en-ID" sz="28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 </a:t>
            </a:r>
            <a:r>
              <a:rPr lang="en-ID" sz="2800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sebagai</a:t>
            </a:r>
            <a:r>
              <a:rPr lang="en-ID" sz="28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 </a:t>
            </a:r>
            <a:r>
              <a:rPr lang="en-ID" sz="2800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konektor</a:t>
            </a:r>
            <a:r>
              <a:rPr lang="en-ID" sz="28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 pada </a:t>
            </a:r>
            <a:r>
              <a:rPr lang="en-ID" sz="2800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topologi</a:t>
            </a:r>
            <a:r>
              <a:rPr lang="en-ID" sz="28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 </a:t>
            </a:r>
            <a:r>
              <a:rPr lang="en-ID" sz="2800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jaringan</a:t>
            </a:r>
            <a:r>
              <a:rPr lang="en-ID" sz="28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 </a:t>
            </a:r>
            <a:r>
              <a:rPr lang="en-ID" sz="2800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komputer</a:t>
            </a:r>
            <a:r>
              <a:rPr lang="en-ID" sz="28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 LAN (Local Area Network) dan </a:t>
            </a:r>
            <a:r>
              <a:rPr lang="en-ID" sz="2800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topologi</a:t>
            </a:r>
            <a:r>
              <a:rPr lang="en-ID" sz="28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 </a:t>
            </a:r>
            <a:r>
              <a:rPr lang="en-ID" sz="2800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jaringan</a:t>
            </a:r>
            <a:r>
              <a:rPr lang="en-ID" sz="28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 </a:t>
            </a:r>
            <a:r>
              <a:rPr lang="en-ID" sz="2800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lainnya</a:t>
            </a:r>
            <a:r>
              <a:rPr lang="en-ID" sz="2800" b="1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 </a:t>
            </a:r>
            <a:r>
              <a:rPr lang="en-US" sz="2800" b="1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(Wisnu </a:t>
            </a:r>
            <a:r>
              <a:rPr lang="en-US" sz="2800" b="1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Aswien</a:t>
            </a:r>
            <a:r>
              <a:rPr lang="en-US" sz="2800" b="1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, 2024)</a:t>
            </a:r>
            <a:endParaRPr lang="en-US" sz="2800" spc="-35" dirty="0">
              <a:solidFill>
                <a:srgbClr val="56091F"/>
              </a:solidFill>
              <a:latin typeface="Amasis MT Pro Black" panose="02040A04050005020304" pitchFamily="18" charset="0"/>
              <a:ea typeface="Poppins"/>
              <a:cs typeface="Poppins"/>
              <a:sym typeface="Poppins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xmlns="" id="{7FA99D2B-DA33-5998-36B7-48E9C266670B}"/>
              </a:ext>
            </a:extLst>
          </p:cNvPr>
          <p:cNvSpPr txBox="1"/>
          <p:nvPr/>
        </p:nvSpPr>
        <p:spPr>
          <a:xfrm>
            <a:off x="10069208" y="4189146"/>
            <a:ext cx="4587846" cy="3939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algn="ctr" rtl="1">
              <a:spcAft>
                <a:spcPts val="800"/>
              </a:spcAft>
              <a:tabLst>
                <a:tab pos="540385" algn="l"/>
              </a:tabLst>
            </a:pP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UTP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merupakan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salah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satu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jenis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kabel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jaringan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digunakan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sebagai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penghubung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antar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komputer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atau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sebagai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penghubung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antar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perangkat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jaringan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lainnya</a:t>
            </a:r>
            <a:r>
              <a:rPr lang="en-US" sz="3200" b="1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3200" b="1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ramadhan</a:t>
            </a:r>
            <a:r>
              <a:rPr lang="en-US" sz="3200" b="1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2023)</a:t>
            </a:r>
            <a:r>
              <a:rPr lang="en-ID" sz="3200" b="1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D" sz="3200" dirty="0">
              <a:solidFill>
                <a:srgbClr val="56091F"/>
              </a:solidFill>
              <a:effectLst/>
              <a:latin typeface="Trade Gothic Next HvyCd" panose="020B09060403030200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xmlns="" id="{672532E7-E0EB-871A-CD52-4CC70A2D8034}"/>
              </a:ext>
            </a:extLst>
          </p:cNvPr>
          <p:cNvSpPr txBox="1"/>
          <p:nvPr/>
        </p:nvSpPr>
        <p:spPr>
          <a:xfrm>
            <a:off x="9967634" y="3056754"/>
            <a:ext cx="4295008" cy="4111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ID" sz="3600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MikroTik</a:t>
            </a:r>
            <a:r>
              <a:rPr lang="en-ID" sz="36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36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RB951</a:t>
            </a:r>
            <a:endParaRPr lang="en-ID" sz="3600" dirty="0">
              <a:solidFill>
                <a:srgbClr val="56091F"/>
              </a:solidFill>
              <a:effectLst/>
              <a:latin typeface="Amasis MT Pro Black" panose="02040A040500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1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74348" y="-1486301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2" y="0"/>
                </a:lnTo>
                <a:lnTo>
                  <a:pt x="13194772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6629400" y="212624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-3006407" y="-3159170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0"/>
                </a:moveTo>
                <a:lnTo>
                  <a:pt x="7610491" y="0"/>
                </a:lnTo>
                <a:lnTo>
                  <a:pt x="7610491" y="6877116"/>
                </a:lnTo>
                <a:lnTo>
                  <a:pt x="0" y="68771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 rot="-6051617" flipV="1">
            <a:off x="14482755" y="6251447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6877115"/>
                </a:moveTo>
                <a:lnTo>
                  <a:pt x="7610490" y="6877115"/>
                </a:lnTo>
                <a:lnTo>
                  <a:pt x="7610490" y="0"/>
                </a:lnTo>
                <a:lnTo>
                  <a:pt x="0" y="0"/>
                </a:lnTo>
                <a:lnTo>
                  <a:pt x="0" y="687711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TextBox 7"/>
          <p:cNvSpPr txBox="1"/>
          <p:nvPr/>
        </p:nvSpPr>
        <p:spPr>
          <a:xfrm>
            <a:off x="1113059" y="3912360"/>
            <a:ext cx="6287156" cy="11987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66"/>
              </a:lnSpc>
            </a:pPr>
            <a:r>
              <a:rPr lang="en-US" sz="6976" spc="-146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alur</a:t>
            </a:r>
            <a:r>
              <a:rPr lang="en-US" sz="6976" spc="-146" dirty="0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 </a:t>
            </a:r>
            <a:r>
              <a:rPr lang="en-US" sz="6976" spc="-146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kegiatan</a:t>
            </a:r>
            <a:endParaRPr lang="en-US" sz="6976" spc="-146" dirty="0">
              <a:solidFill>
                <a:srgbClr val="F9AABB"/>
              </a:solidFill>
              <a:latin typeface="EFCO Brookshire"/>
              <a:ea typeface="EFCO Brookshire"/>
              <a:cs typeface="EFCO Brookshire"/>
              <a:sym typeface="EFCO Brookshire"/>
            </a:endParaRPr>
          </a:p>
        </p:txBody>
      </p:sp>
      <p:sp>
        <p:nvSpPr>
          <p:cNvPr id="9" name="Freeform 15">
            <a:extLst>
              <a:ext uri="{FF2B5EF4-FFF2-40B4-BE49-F238E27FC236}">
                <a16:creationId xmlns:a16="http://schemas.microsoft.com/office/drawing/2014/main" xmlns="" id="{AA9557F0-FBE0-58EC-DDBA-B273C7183C51}"/>
              </a:ext>
            </a:extLst>
          </p:cNvPr>
          <p:cNvSpPr/>
          <p:nvPr/>
        </p:nvSpPr>
        <p:spPr>
          <a:xfrm rot="13392313">
            <a:off x="12068596" y="721566"/>
            <a:ext cx="7315200" cy="2040721"/>
          </a:xfrm>
          <a:custGeom>
            <a:avLst/>
            <a:gdLst/>
            <a:ahLst/>
            <a:cxnLst/>
            <a:rect l="l" t="t" r="r" b="b"/>
            <a:pathLst>
              <a:path w="7315200" h="2040721">
                <a:moveTo>
                  <a:pt x="0" y="0"/>
                </a:moveTo>
                <a:lnTo>
                  <a:pt x="7315200" y="0"/>
                </a:lnTo>
                <a:lnTo>
                  <a:pt x="7315200" y="2040721"/>
                </a:lnTo>
                <a:lnTo>
                  <a:pt x="0" y="20407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10" name="Freeform 15">
            <a:extLst>
              <a:ext uri="{FF2B5EF4-FFF2-40B4-BE49-F238E27FC236}">
                <a16:creationId xmlns:a16="http://schemas.microsoft.com/office/drawing/2014/main" xmlns="" id="{3F740E57-D146-F4F2-B20B-6A6F1CF78D15}"/>
              </a:ext>
            </a:extLst>
          </p:cNvPr>
          <p:cNvSpPr/>
          <p:nvPr/>
        </p:nvSpPr>
        <p:spPr>
          <a:xfrm rot="2558410">
            <a:off x="-750151" y="7675338"/>
            <a:ext cx="7315200" cy="2040721"/>
          </a:xfrm>
          <a:custGeom>
            <a:avLst/>
            <a:gdLst/>
            <a:ahLst/>
            <a:cxnLst/>
            <a:rect l="l" t="t" r="r" b="b"/>
            <a:pathLst>
              <a:path w="7315200" h="2040721">
                <a:moveTo>
                  <a:pt x="0" y="0"/>
                </a:moveTo>
                <a:lnTo>
                  <a:pt x="7315200" y="0"/>
                </a:lnTo>
                <a:lnTo>
                  <a:pt x="7315200" y="2040721"/>
                </a:lnTo>
                <a:lnTo>
                  <a:pt x="0" y="20407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265" y="156984"/>
            <a:ext cx="4045361" cy="99082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3C9FE9B-45E1-BDA9-8D0F-EDFA6D34C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490C7335-DB41-43D6-5BF4-3C7AA6A11F5F}"/>
              </a:ext>
            </a:extLst>
          </p:cNvPr>
          <p:cNvSpPr/>
          <p:nvPr/>
        </p:nvSpPr>
        <p:spPr>
          <a:xfrm>
            <a:off x="-515962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2" y="0"/>
                </a:lnTo>
                <a:lnTo>
                  <a:pt x="13194772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xmlns="" id="{77557D42-CC89-4B89-0899-BC93D9B2D7D1}"/>
              </a:ext>
            </a:extLst>
          </p:cNvPr>
          <p:cNvSpPr/>
          <p:nvPr/>
        </p:nvSpPr>
        <p:spPr>
          <a:xfrm>
            <a:off x="10188348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xmlns="" id="{BCED26EE-3A8B-A934-9C2E-E15EB2DE6AFE}"/>
              </a:ext>
            </a:extLst>
          </p:cNvPr>
          <p:cNvSpPr/>
          <p:nvPr/>
        </p:nvSpPr>
        <p:spPr>
          <a:xfrm>
            <a:off x="-3006407" y="-3159170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0"/>
                </a:moveTo>
                <a:lnTo>
                  <a:pt x="7610491" y="0"/>
                </a:lnTo>
                <a:lnTo>
                  <a:pt x="7610491" y="6877116"/>
                </a:lnTo>
                <a:lnTo>
                  <a:pt x="0" y="68771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6E7EBB69-E638-3EA2-4293-C86E42F581C4}"/>
              </a:ext>
            </a:extLst>
          </p:cNvPr>
          <p:cNvSpPr/>
          <p:nvPr/>
        </p:nvSpPr>
        <p:spPr>
          <a:xfrm rot="-6051617" flipV="1">
            <a:off x="14482755" y="6251447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6877115"/>
                </a:moveTo>
                <a:lnTo>
                  <a:pt x="7610490" y="6877115"/>
                </a:lnTo>
                <a:lnTo>
                  <a:pt x="7610490" y="0"/>
                </a:lnTo>
                <a:lnTo>
                  <a:pt x="0" y="0"/>
                </a:lnTo>
                <a:lnTo>
                  <a:pt x="0" y="687711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xmlns="" id="{03771E72-8453-010B-8D16-60F842A762FF}"/>
              </a:ext>
            </a:extLst>
          </p:cNvPr>
          <p:cNvSpPr/>
          <p:nvPr/>
        </p:nvSpPr>
        <p:spPr>
          <a:xfrm>
            <a:off x="418758" y="162180"/>
            <a:ext cx="17450483" cy="9962640"/>
          </a:xfrm>
          <a:custGeom>
            <a:avLst/>
            <a:gdLst/>
            <a:ahLst/>
            <a:cxnLst/>
            <a:rect l="l" t="t" r="r" b="b"/>
            <a:pathLst>
              <a:path w="17450483" h="9962640">
                <a:moveTo>
                  <a:pt x="0" y="0"/>
                </a:moveTo>
                <a:lnTo>
                  <a:pt x="17450484" y="0"/>
                </a:lnTo>
                <a:lnTo>
                  <a:pt x="17450484" y="9962640"/>
                </a:lnTo>
                <a:lnTo>
                  <a:pt x="0" y="99626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xmlns="" id="{84AB70C4-1245-2CD9-5C09-0C717526ADAF}"/>
              </a:ext>
            </a:extLst>
          </p:cNvPr>
          <p:cNvSpPr txBox="1"/>
          <p:nvPr/>
        </p:nvSpPr>
        <p:spPr>
          <a:xfrm>
            <a:off x="6388049" y="2116562"/>
            <a:ext cx="5859567" cy="1107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43"/>
              </a:lnSpc>
            </a:pPr>
            <a:r>
              <a:rPr lang="en-US" sz="6459" spc="-135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rancangan kegiatan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xmlns="" id="{2E45C79F-3DC5-DB27-51AE-1677F6CA3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903865"/>
              </p:ext>
            </p:extLst>
          </p:nvPr>
        </p:nvGraphicFramePr>
        <p:xfrm>
          <a:off x="4495800" y="3250058"/>
          <a:ext cx="8940637" cy="4167908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582730">
                  <a:extLst>
                    <a:ext uri="{9D8B030D-6E8A-4147-A177-3AD203B41FA5}">
                      <a16:colId xmlns:a16="http://schemas.microsoft.com/office/drawing/2014/main" xmlns="" val="2297070022"/>
                    </a:ext>
                  </a:extLst>
                </a:gridCol>
                <a:gridCol w="2504160">
                  <a:extLst>
                    <a:ext uri="{9D8B030D-6E8A-4147-A177-3AD203B41FA5}">
                      <a16:colId xmlns:a16="http://schemas.microsoft.com/office/drawing/2014/main" xmlns="" val="4099487705"/>
                    </a:ext>
                  </a:extLst>
                </a:gridCol>
                <a:gridCol w="2764556">
                  <a:extLst>
                    <a:ext uri="{9D8B030D-6E8A-4147-A177-3AD203B41FA5}">
                      <a16:colId xmlns:a16="http://schemas.microsoft.com/office/drawing/2014/main" xmlns="" val="1414935624"/>
                    </a:ext>
                  </a:extLst>
                </a:gridCol>
                <a:gridCol w="3089191">
                  <a:extLst>
                    <a:ext uri="{9D8B030D-6E8A-4147-A177-3AD203B41FA5}">
                      <a16:colId xmlns:a16="http://schemas.microsoft.com/office/drawing/2014/main" xmlns="" val="4146403064"/>
                    </a:ext>
                  </a:extLst>
                </a:gridCol>
              </a:tblGrid>
              <a:tr h="56741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D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Tanggal</a:t>
                      </a:r>
                      <a:endParaRPr lang="en-ID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Tempat</a:t>
                      </a:r>
                      <a:endParaRPr lang="en-ID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id-ID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Kegiatan</a:t>
                      </a:r>
                      <a:endParaRPr lang="en-ID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039344509"/>
                  </a:ext>
                </a:extLst>
              </a:tr>
              <a:tr h="1200163">
                <a:tc>
                  <a:txBody>
                    <a:bodyPr/>
                    <a:lstStyle/>
                    <a:p>
                      <a:pPr marL="342900" lvl="0" indent="-342900" rtl="0">
                        <a:lnSpc>
                          <a:spcPct val="150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</a:t>
                      </a:r>
                      <a:r>
                        <a:rPr lang="en-US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Februari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2025</a:t>
                      </a:r>
                      <a:endParaRPr lang="en-ID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SMK Muhammadiyah Bandongan</a:t>
                      </a:r>
                      <a:endParaRPr lang="en-ID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Ujian Kompetensi Keahlian</a:t>
                      </a:r>
                      <a:endParaRPr lang="en-ID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709622001"/>
                  </a:ext>
                </a:extLst>
              </a:tr>
              <a:tr h="1200163">
                <a:tc>
                  <a:txBody>
                    <a:bodyPr/>
                    <a:lstStyle/>
                    <a:p>
                      <a:pPr marL="342900" lvl="0" indent="-342900" rtl="0">
                        <a:lnSpc>
                          <a:spcPct val="150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r>
                        <a:rPr lang="id-ID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786130" algn="ctr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– 17 </a:t>
                      </a:r>
                      <a:r>
                        <a:rPr lang="en-US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Februari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2025</a:t>
                      </a:r>
                      <a:endParaRPr lang="en-ID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SMK Muhammadiyah Bandongan</a:t>
                      </a:r>
                      <a:endParaRPr lang="en-ID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Membuat laporan</a:t>
                      </a:r>
                      <a:endParaRPr lang="en-ID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052326331"/>
                  </a:ext>
                </a:extLst>
              </a:tr>
              <a:tr h="1200163">
                <a:tc>
                  <a:txBody>
                    <a:bodyPr/>
                    <a:lstStyle/>
                    <a:p>
                      <a:pPr marL="342900" lvl="0" indent="-342900" rtl="0">
                        <a:lnSpc>
                          <a:spcPct val="150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r>
                        <a:rPr lang="id-ID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Februari 2025</a:t>
                      </a:r>
                      <a:endParaRPr lang="en-ID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SMK Muhammadiyah Bandongan</a:t>
                      </a:r>
                      <a:endParaRPr lang="en-ID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Ujian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sekolah</a:t>
                      </a:r>
                      <a:endParaRPr lang="en-ID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528291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7838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5962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2" y="0"/>
                </a:lnTo>
                <a:lnTo>
                  <a:pt x="13194772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10188348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-3006407" y="-3159170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0"/>
                </a:moveTo>
                <a:lnTo>
                  <a:pt x="7610491" y="0"/>
                </a:lnTo>
                <a:lnTo>
                  <a:pt x="7610491" y="6877116"/>
                </a:lnTo>
                <a:lnTo>
                  <a:pt x="0" y="68771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 rot="-6051617" flipV="1">
            <a:off x="14482755" y="6251447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6877115"/>
                </a:moveTo>
                <a:lnTo>
                  <a:pt x="7610490" y="6877115"/>
                </a:lnTo>
                <a:lnTo>
                  <a:pt x="7610490" y="0"/>
                </a:lnTo>
                <a:lnTo>
                  <a:pt x="0" y="0"/>
                </a:lnTo>
                <a:lnTo>
                  <a:pt x="0" y="687711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418758" y="162180"/>
            <a:ext cx="17450483" cy="9962640"/>
          </a:xfrm>
          <a:custGeom>
            <a:avLst/>
            <a:gdLst/>
            <a:ahLst/>
            <a:cxnLst/>
            <a:rect l="l" t="t" r="r" b="b"/>
            <a:pathLst>
              <a:path w="17450483" h="9962640">
                <a:moveTo>
                  <a:pt x="0" y="0"/>
                </a:moveTo>
                <a:lnTo>
                  <a:pt x="17450484" y="0"/>
                </a:lnTo>
                <a:lnTo>
                  <a:pt x="17450484" y="9962640"/>
                </a:lnTo>
                <a:lnTo>
                  <a:pt x="0" y="99626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TextBox 7"/>
          <p:cNvSpPr txBox="1"/>
          <p:nvPr/>
        </p:nvSpPr>
        <p:spPr>
          <a:xfrm>
            <a:off x="6388049" y="2116562"/>
            <a:ext cx="5859567" cy="1107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43"/>
              </a:lnSpc>
            </a:pPr>
            <a:r>
              <a:rPr lang="en-US" sz="6459" spc="-135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rancangan kegiatan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35B87FE2-1BCC-50AB-7492-24C2AAEE5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34087"/>
              </p:ext>
            </p:extLst>
          </p:nvPr>
        </p:nvGraphicFramePr>
        <p:xfrm>
          <a:off x="3201763" y="3428140"/>
          <a:ext cx="11884473" cy="399018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948949">
                  <a:extLst>
                    <a:ext uri="{9D8B030D-6E8A-4147-A177-3AD203B41FA5}">
                      <a16:colId xmlns:a16="http://schemas.microsoft.com/office/drawing/2014/main" xmlns="" val="114467894"/>
                    </a:ext>
                  </a:extLst>
                </a:gridCol>
                <a:gridCol w="2964340">
                  <a:extLst>
                    <a:ext uri="{9D8B030D-6E8A-4147-A177-3AD203B41FA5}">
                      <a16:colId xmlns:a16="http://schemas.microsoft.com/office/drawing/2014/main" xmlns="" val="2725252004"/>
                    </a:ext>
                  </a:extLst>
                </a:gridCol>
                <a:gridCol w="1491208">
                  <a:extLst>
                    <a:ext uri="{9D8B030D-6E8A-4147-A177-3AD203B41FA5}">
                      <a16:colId xmlns:a16="http://schemas.microsoft.com/office/drawing/2014/main" xmlns="" val="3322957764"/>
                    </a:ext>
                  </a:extLst>
                </a:gridCol>
                <a:gridCol w="1446020">
                  <a:extLst>
                    <a:ext uri="{9D8B030D-6E8A-4147-A177-3AD203B41FA5}">
                      <a16:colId xmlns:a16="http://schemas.microsoft.com/office/drawing/2014/main" xmlns="" val="1601608131"/>
                    </a:ext>
                  </a:extLst>
                </a:gridCol>
                <a:gridCol w="2675137">
                  <a:extLst>
                    <a:ext uri="{9D8B030D-6E8A-4147-A177-3AD203B41FA5}">
                      <a16:colId xmlns:a16="http://schemas.microsoft.com/office/drawing/2014/main" xmlns="" val="401392331"/>
                    </a:ext>
                  </a:extLst>
                </a:gridCol>
                <a:gridCol w="2358819">
                  <a:extLst>
                    <a:ext uri="{9D8B030D-6E8A-4147-A177-3AD203B41FA5}">
                      <a16:colId xmlns:a16="http://schemas.microsoft.com/office/drawing/2014/main" xmlns="" val="775905817"/>
                    </a:ext>
                  </a:extLst>
                </a:gridCol>
              </a:tblGrid>
              <a:tr h="798036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Keterangan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Jumlah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Satuan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Harga satuan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Jumlah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3457940582"/>
                  </a:ext>
                </a:extLst>
              </a:tr>
              <a:tr h="798036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Mikrotik</a:t>
                      </a:r>
                      <a:r>
                        <a:rPr lang="en-ID" sz="20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RB951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Rp   360.000 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Rp 360.000 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262164557"/>
                  </a:ext>
                </a:extLst>
              </a:tr>
              <a:tr h="798036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Kabel LAN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Meter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Rp       6.000 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Rp     6.000 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3873657702"/>
                  </a:ext>
                </a:extLst>
              </a:tr>
              <a:tr h="798036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Konektor RJ45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Pcs</a:t>
                      </a:r>
                      <a:endParaRPr lang="en-ID" sz="20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Rp       1.000 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Rp     2.000 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3845302807"/>
                  </a:ext>
                </a:extLst>
              </a:tr>
              <a:tr h="798036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Jumlah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Rp368.000 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399982398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163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10080549" y="-945005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3"/>
                </a:lnTo>
                <a:lnTo>
                  <a:pt x="0" y="131947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 rot="473453">
            <a:off x="384457" y="451332"/>
            <a:ext cx="2017434" cy="2355921"/>
          </a:xfrm>
          <a:custGeom>
            <a:avLst/>
            <a:gdLst/>
            <a:ahLst/>
            <a:cxnLst/>
            <a:rect l="l" t="t" r="r" b="b"/>
            <a:pathLst>
              <a:path w="2017434" h="2355921">
                <a:moveTo>
                  <a:pt x="0" y="0"/>
                </a:moveTo>
                <a:lnTo>
                  <a:pt x="2017434" y="0"/>
                </a:lnTo>
                <a:lnTo>
                  <a:pt x="2017434" y="2355921"/>
                </a:lnTo>
                <a:lnTo>
                  <a:pt x="0" y="23559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TextBox 5"/>
          <p:cNvSpPr txBox="1"/>
          <p:nvPr/>
        </p:nvSpPr>
        <p:spPr>
          <a:xfrm>
            <a:off x="1859464" y="1886468"/>
            <a:ext cx="15567803" cy="1595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51"/>
              </a:lnSpc>
            </a:pPr>
            <a:r>
              <a:rPr lang="en-US" sz="12195" spc="-256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tempat</a:t>
            </a:r>
            <a:r>
              <a:rPr lang="en-US" sz="12195" spc="-256" dirty="0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 dan </a:t>
            </a:r>
            <a:r>
              <a:rPr lang="en-US" sz="12195" spc="-256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waktu</a:t>
            </a:r>
            <a:r>
              <a:rPr lang="en-US" sz="12195" spc="-256" dirty="0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 </a:t>
            </a:r>
            <a:r>
              <a:rPr lang="en-US" sz="12195" spc="-256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kegiatan</a:t>
            </a:r>
            <a:endParaRPr lang="en-US" sz="12195" spc="-256" dirty="0">
              <a:solidFill>
                <a:srgbClr val="F9AABB"/>
              </a:solidFill>
              <a:latin typeface="EFCO Brookshire"/>
              <a:ea typeface="EFCO Brookshire"/>
              <a:cs typeface="EFCO Brookshire"/>
              <a:sym typeface="EFCO Brookshir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383000" y="4381061"/>
            <a:ext cx="14294935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62"/>
              </a:lnSpc>
            </a:pP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Kami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melaksanakan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Ujian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Kompetensi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Keahlian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di SMK Muhammadiyah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Bandongan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, di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Laboratorium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Maintenance dan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Laboratorium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Jaringan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.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Ujian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terdiri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dari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dua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rangkaian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, salah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satunya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konfigurasi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MikroTik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RB951. Proses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dimulai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dengan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perkabelan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di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Laboratorium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Maintenance,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lalu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dilanjutkan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ke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Laboratorium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Jaringan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untuk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konfigurasi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MikroTik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.</a:t>
            </a:r>
            <a:endParaRPr lang="en-US" sz="3600" spc="-43" dirty="0">
              <a:solidFill>
                <a:srgbClr val="56091F"/>
              </a:solidFill>
              <a:latin typeface="Franklin Gothic Heavy" panose="020B0903020102020204" pitchFamily="34" charset="0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7B3C0C3-7731-2F12-28B2-C5B09D84C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AE6D83F1-96C2-2619-BFB9-A7A1AE7DB243}"/>
              </a:ext>
            </a:extLst>
          </p:cNvPr>
          <p:cNvSpPr/>
          <p:nvPr/>
        </p:nvSpPr>
        <p:spPr>
          <a:xfrm>
            <a:off x="-515962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2" y="0"/>
                </a:lnTo>
                <a:lnTo>
                  <a:pt x="13194772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xmlns="" id="{E0897F49-6297-A217-7923-80799A6ABBD3}"/>
              </a:ext>
            </a:extLst>
          </p:cNvPr>
          <p:cNvSpPr/>
          <p:nvPr/>
        </p:nvSpPr>
        <p:spPr>
          <a:xfrm>
            <a:off x="10188348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ID" sz="1800" b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Hardware</a:t>
            </a:r>
            <a:endParaRPr lang="en-ID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xmlns="" id="{EA396AF6-C7AD-64B7-6619-D716E0242D7E}"/>
              </a:ext>
            </a:extLst>
          </p:cNvPr>
          <p:cNvSpPr/>
          <p:nvPr/>
        </p:nvSpPr>
        <p:spPr>
          <a:xfrm rot="-5085271">
            <a:off x="-2989403" y="5361098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0"/>
                </a:moveTo>
                <a:lnTo>
                  <a:pt x="7610491" y="0"/>
                </a:lnTo>
                <a:lnTo>
                  <a:pt x="7610491" y="6877116"/>
                </a:lnTo>
                <a:lnTo>
                  <a:pt x="0" y="68771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CC457EE6-9D1A-0749-0357-4915E3ED28D4}"/>
              </a:ext>
            </a:extLst>
          </p:cNvPr>
          <p:cNvSpPr/>
          <p:nvPr/>
        </p:nvSpPr>
        <p:spPr>
          <a:xfrm rot="-6051617" flipV="1">
            <a:off x="14007855" y="5420410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6877116"/>
                </a:moveTo>
                <a:lnTo>
                  <a:pt x="7610490" y="6877116"/>
                </a:lnTo>
                <a:lnTo>
                  <a:pt x="7610490" y="0"/>
                </a:lnTo>
                <a:lnTo>
                  <a:pt x="0" y="0"/>
                </a:lnTo>
                <a:lnTo>
                  <a:pt x="0" y="68771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xmlns="" id="{E84A8548-B4E9-9737-6550-8036F52AAB17}"/>
              </a:ext>
            </a:extLst>
          </p:cNvPr>
          <p:cNvGrpSpPr/>
          <p:nvPr/>
        </p:nvGrpSpPr>
        <p:grpSpPr>
          <a:xfrm>
            <a:off x="1422132" y="4029782"/>
            <a:ext cx="7302550" cy="3475530"/>
            <a:chOff x="0" y="-57150"/>
            <a:chExt cx="1923306" cy="915366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D2B8577F-CCEA-49C8-C34A-7E0A07075152}"/>
                </a:ext>
              </a:extLst>
            </p:cNvPr>
            <p:cNvSpPr/>
            <p:nvPr/>
          </p:nvSpPr>
          <p:spPr>
            <a:xfrm>
              <a:off x="919733" y="-28575"/>
              <a:ext cx="1003573" cy="858216"/>
            </a:xfrm>
            <a:custGeom>
              <a:avLst/>
              <a:gdLst/>
              <a:ahLst/>
              <a:cxnLst/>
              <a:rect l="l" t="t" r="r" b="b"/>
              <a:pathLst>
                <a:path w="1003573" h="858216">
                  <a:moveTo>
                    <a:pt x="67048" y="0"/>
                  </a:moveTo>
                  <a:lnTo>
                    <a:pt x="936524" y="0"/>
                  </a:lnTo>
                  <a:cubicBezTo>
                    <a:pt x="954307" y="0"/>
                    <a:pt x="971361" y="7064"/>
                    <a:pt x="983935" y="19638"/>
                  </a:cubicBezTo>
                  <a:cubicBezTo>
                    <a:pt x="996509" y="32212"/>
                    <a:pt x="1003573" y="49266"/>
                    <a:pt x="1003573" y="67048"/>
                  </a:cubicBezTo>
                  <a:lnTo>
                    <a:pt x="1003573" y="791168"/>
                  </a:lnTo>
                  <a:cubicBezTo>
                    <a:pt x="1003573" y="808950"/>
                    <a:pt x="996509" y="826004"/>
                    <a:pt x="983935" y="838578"/>
                  </a:cubicBezTo>
                  <a:cubicBezTo>
                    <a:pt x="971361" y="851152"/>
                    <a:pt x="954307" y="858216"/>
                    <a:pt x="936524" y="858216"/>
                  </a:cubicBezTo>
                  <a:lnTo>
                    <a:pt x="67048" y="858216"/>
                  </a:lnTo>
                  <a:cubicBezTo>
                    <a:pt x="49266" y="858216"/>
                    <a:pt x="32212" y="851152"/>
                    <a:pt x="19638" y="838578"/>
                  </a:cubicBezTo>
                  <a:cubicBezTo>
                    <a:pt x="7064" y="826004"/>
                    <a:pt x="0" y="808950"/>
                    <a:pt x="0" y="791168"/>
                  </a:cubicBezTo>
                  <a:lnTo>
                    <a:pt x="0" y="67048"/>
                  </a:lnTo>
                  <a:cubicBezTo>
                    <a:pt x="0" y="49266"/>
                    <a:pt x="7064" y="32212"/>
                    <a:pt x="19638" y="19638"/>
                  </a:cubicBezTo>
                  <a:cubicBezTo>
                    <a:pt x="32212" y="7064"/>
                    <a:pt x="49266" y="0"/>
                    <a:pt x="67048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xmlns="" id="{5369FB78-D004-F6B3-D978-332B02DEB532}"/>
                </a:ext>
              </a:extLst>
            </p:cNvPr>
            <p:cNvSpPr txBox="1"/>
            <p:nvPr/>
          </p:nvSpPr>
          <p:spPr>
            <a:xfrm>
              <a:off x="0" y="-57150"/>
              <a:ext cx="1003573" cy="915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xmlns="" id="{6883D01A-4AA1-4C71-9AD7-91AA9C4D08A9}"/>
              </a:ext>
            </a:extLst>
          </p:cNvPr>
          <p:cNvGrpSpPr/>
          <p:nvPr/>
        </p:nvGrpSpPr>
        <p:grpSpPr>
          <a:xfrm>
            <a:off x="9663134" y="4198409"/>
            <a:ext cx="3810440" cy="3258539"/>
            <a:chOff x="0" y="0"/>
            <a:chExt cx="1003573" cy="858216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xmlns="" id="{27F7188F-AC1C-B512-41DF-7BA218E14760}"/>
                </a:ext>
              </a:extLst>
            </p:cNvPr>
            <p:cNvSpPr/>
            <p:nvPr/>
          </p:nvSpPr>
          <p:spPr>
            <a:xfrm>
              <a:off x="0" y="0"/>
              <a:ext cx="1003573" cy="858216"/>
            </a:xfrm>
            <a:custGeom>
              <a:avLst/>
              <a:gdLst/>
              <a:ahLst/>
              <a:cxnLst/>
              <a:rect l="l" t="t" r="r" b="b"/>
              <a:pathLst>
                <a:path w="1003573" h="858216">
                  <a:moveTo>
                    <a:pt x="67048" y="0"/>
                  </a:moveTo>
                  <a:lnTo>
                    <a:pt x="936524" y="0"/>
                  </a:lnTo>
                  <a:cubicBezTo>
                    <a:pt x="954307" y="0"/>
                    <a:pt x="971361" y="7064"/>
                    <a:pt x="983935" y="19638"/>
                  </a:cubicBezTo>
                  <a:cubicBezTo>
                    <a:pt x="996509" y="32212"/>
                    <a:pt x="1003573" y="49266"/>
                    <a:pt x="1003573" y="67048"/>
                  </a:cubicBezTo>
                  <a:lnTo>
                    <a:pt x="1003573" y="791168"/>
                  </a:lnTo>
                  <a:cubicBezTo>
                    <a:pt x="1003573" y="808950"/>
                    <a:pt x="996509" y="826004"/>
                    <a:pt x="983935" y="838578"/>
                  </a:cubicBezTo>
                  <a:cubicBezTo>
                    <a:pt x="971361" y="851152"/>
                    <a:pt x="954307" y="858216"/>
                    <a:pt x="936524" y="858216"/>
                  </a:cubicBezTo>
                  <a:lnTo>
                    <a:pt x="67048" y="858216"/>
                  </a:lnTo>
                  <a:cubicBezTo>
                    <a:pt x="49266" y="858216"/>
                    <a:pt x="32212" y="851152"/>
                    <a:pt x="19638" y="838578"/>
                  </a:cubicBezTo>
                  <a:cubicBezTo>
                    <a:pt x="7064" y="826004"/>
                    <a:pt x="0" y="808950"/>
                    <a:pt x="0" y="791168"/>
                  </a:cubicBezTo>
                  <a:lnTo>
                    <a:pt x="0" y="67048"/>
                  </a:lnTo>
                  <a:cubicBezTo>
                    <a:pt x="0" y="49266"/>
                    <a:pt x="7064" y="32212"/>
                    <a:pt x="19638" y="19638"/>
                  </a:cubicBezTo>
                  <a:cubicBezTo>
                    <a:pt x="32212" y="7064"/>
                    <a:pt x="49266" y="0"/>
                    <a:pt x="67048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xmlns="" id="{D0C6653B-923A-4F59-D5C4-EA83F1F82F01}"/>
                </a:ext>
              </a:extLst>
            </p:cNvPr>
            <p:cNvSpPr txBox="1"/>
            <p:nvPr/>
          </p:nvSpPr>
          <p:spPr>
            <a:xfrm>
              <a:off x="0" y="-57150"/>
              <a:ext cx="1003573" cy="915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xmlns="" id="{24D4D961-014B-74B6-083D-2592E94156BB}"/>
              </a:ext>
            </a:extLst>
          </p:cNvPr>
          <p:cNvSpPr/>
          <p:nvPr/>
        </p:nvSpPr>
        <p:spPr>
          <a:xfrm>
            <a:off x="0" y="403345"/>
            <a:ext cx="7315200" cy="2040721"/>
          </a:xfrm>
          <a:custGeom>
            <a:avLst/>
            <a:gdLst/>
            <a:ahLst/>
            <a:cxnLst/>
            <a:rect l="l" t="t" r="r" b="b"/>
            <a:pathLst>
              <a:path w="7315200" h="2040721">
                <a:moveTo>
                  <a:pt x="0" y="0"/>
                </a:moveTo>
                <a:lnTo>
                  <a:pt x="7315200" y="0"/>
                </a:lnTo>
                <a:lnTo>
                  <a:pt x="7315200" y="2040721"/>
                </a:lnTo>
                <a:lnTo>
                  <a:pt x="0" y="20407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xmlns="" id="{8C2A34DA-34D7-8713-59C6-5D501F462970}"/>
              </a:ext>
            </a:extLst>
          </p:cNvPr>
          <p:cNvSpPr txBox="1"/>
          <p:nvPr/>
        </p:nvSpPr>
        <p:spPr>
          <a:xfrm>
            <a:off x="1422132" y="1546985"/>
            <a:ext cx="15483824" cy="1902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84"/>
              </a:lnSpc>
            </a:pPr>
            <a:r>
              <a:rPr lang="en-US" sz="13596" spc="-285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alat</a:t>
            </a:r>
            <a:r>
              <a:rPr lang="en-US" sz="13596" spc="-285" dirty="0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 dan </a:t>
            </a:r>
            <a:r>
              <a:rPr lang="en-US" sz="13596" spc="-285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bahan</a:t>
            </a:r>
            <a:endParaRPr lang="en-US" sz="13596" spc="-285" dirty="0">
              <a:solidFill>
                <a:srgbClr val="F9AABB"/>
              </a:solidFill>
              <a:latin typeface="EFCO Brookshire"/>
              <a:ea typeface="EFCO Brookshire"/>
              <a:cs typeface="EFCO Brookshire"/>
              <a:sym typeface="EFCO Brookshire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xmlns="" id="{168262D3-E0F6-44DA-5183-256B43F97463}"/>
              </a:ext>
            </a:extLst>
          </p:cNvPr>
          <p:cNvSpPr txBox="1"/>
          <p:nvPr/>
        </p:nvSpPr>
        <p:spPr>
          <a:xfrm>
            <a:off x="5073407" y="4381764"/>
            <a:ext cx="3580903" cy="2713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lphaLcPeriod"/>
            </a:pPr>
            <a:r>
              <a:rPr lang="en-ID" sz="2000" dirty="0" err="1">
                <a:solidFill>
                  <a:srgbClr val="56091F"/>
                </a:solidFill>
                <a:effectLst/>
                <a:latin typeface="Franklin Gothic Heavy" panose="020B0903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MikroTik</a:t>
            </a:r>
            <a:r>
              <a:rPr lang="en-ID" sz="2000" dirty="0">
                <a:solidFill>
                  <a:srgbClr val="56091F"/>
                </a:solidFill>
                <a:effectLst/>
                <a:latin typeface="Franklin Gothic Heavy" panose="020B0903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RB951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lphaLcPeriod"/>
            </a:pPr>
            <a:r>
              <a:rPr lang="en-ID" sz="2000" dirty="0" err="1">
                <a:solidFill>
                  <a:srgbClr val="56091F"/>
                </a:solidFill>
                <a:effectLst/>
                <a:latin typeface="Franklin Gothic Heavy" panose="020B0903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Komputer</a:t>
            </a:r>
            <a:endParaRPr lang="en-ID" sz="2000" dirty="0">
              <a:solidFill>
                <a:srgbClr val="56091F"/>
              </a:solidFill>
              <a:effectLst/>
              <a:latin typeface="Franklin Gothic Heavy" panose="020B0903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lphaLcPeriod"/>
            </a:pPr>
            <a:r>
              <a:rPr lang="en-ID" sz="2000" dirty="0">
                <a:solidFill>
                  <a:srgbClr val="56091F"/>
                </a:solidFill>
                <a:effectLst/>
                <a:latin typeface="Franklin Gothic Heavy" panose="020B0903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Kabel UTP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lphaLcPeriod"/>
            </a:pPr>
            <a:r>
              <a:rPr lang="en-ID" sz="2000" dirty="0" err="1">
                <a:solidFill>
                  <a:srgbClr val="56091F"/>
                </a:solidFill>
                <a:effectLst/>
                <a:latin typeface="Franklin Gothic Heavy" panose="020B0903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Konektor</a:t>
            </a:r>
            <a:r>
              <a:rPr lang="en-ID" sz="2000" dirty="0">
                <a:solidFill>
                  <a:srgbClr val="56091F"/>
                </a:solidFill>
                <a:effectLst/>
                <a:latin typeface="Franklin Gothic Heavy" panose="020B0903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RJ45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lphaLcPeriod"/>
            </a:pPr>
            <a:r>
              <a:rPr lang="en-ID" sz="2000" dirty="0">
                <a:solidFill>
                  <a:srgbClr val="56091F"/>
                </a:solidFill>
                <a:effectLst/>
                <a:latin typeface="Franklin Gothic Heavy" panose="020B0903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Tang </a:t>
            </a:r>
            <a:r>
              <a:rPr lang="en-ID" sz="2000" i="1" dirty="0">
                <a:solidFill>
                  <a:srgbClr val="56091F"/>
                </a:solidFill>
                <a:effectLst/>
                <a:latin typeface="Franklin Gothic Heavy" panose="020B0903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crimping</a:t>
            </a:r>
            <a:endParaRPr lang="en-ID" sz="2000" dirty="0">
              <a:solidFill>
                <a:srgbClr val="56091F"/>
              </a:solidFill>
              <a:effectLst/>
              <a:latin typeface="Franklin Gothic Heavy" panose="020B0903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ID" sz="2000" dirty="0">
                <a:solidFill>
                  <a:srgbClr val="56091F"/>
                </a:solidFill>
                <a:effectLst/>
                <a:latin typeface="Franklin Gothic Heavy" panose="020B0903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LAN Tester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xmlns="" id="{64DB47E6-C51B-A9EC-D84E-DAEFC9A61C14}"/>
              </a:ext>
            </a:extLst>
          </p:cNvPr>
          <p:cNvSpPr txBox="1"/>
          <p:nvPr/>
        </p:nvSpPr>
        <p:spPr>
          <a:xfrm>
            <a:off x="9848496" y="5218402"/>
            <a:ext cx="3590354" cy="1040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lphaLcPeriod"/>
            </a:pPr>
            <a:r>
              <a:rPr lang="en-ID" sz="2400" dirty="0" err="1">
                <a:solidFill>
                  <a:srgbClr val="56091F"/>
                </a:solidFill>
                <a:effectLst/>
                <a:latin typeface="Franklin Gothic Heavy" panose="020B0903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Winbox</a:t>
            </a:r>
            <a:endParaRPr lang="en-ID" sz="2400" dirty="0">
              <a:solidFill>
                <a:srgbClr val="56091F"/>
              </a:solidFill>
              <a:effectLst/>
              <a:latin typeface="Franklin Gothic Heavy" panose="020B0903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ID" sz="2400" dirty="0">
                <a:solidFill>
                  <a:srgbClr val="56091F"/>
                </a:solidFill>
                <a:effectLst/>
                <a:latin typeface="Franklin Gothic Heavy" panose="020B0903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Browser Chrome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04467043-6560-A9E2-2991-38060743E347}"/>
              </a:ext>
            </a:extLst>
          </p:cNvPr>
          <p:cNvSpPr txBox="1"/>
          <p:nvPr/>
        </p:nvSpPr>
        <p:spPr>
          <a:xfrm>
            <a:off x="5738171" y="3578750"/>
            <a:ext cx="22513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200" b="1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Hardware</a:t>
            </a:r>
            <a:endParaRPr lang="en-ID" sz="3200" dirty="0">
              <a:solidFill>
                <a:srgbClr val="56091F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B09C29A5-BA4A-12CD-D343-EF276EA44D87}"/>
              </a:ext>
            </a:extLst>
          </p:cNvPr>
          <p:cNvSpPr txBox="1"/>
          <p:nvPr/>
        </p:nvSpPr>
        <p:spPr>
          <a:xfrm>
            <a:off x="10550232" y="3606993"/>
            <a:ext cx="22513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200" b="1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Software</a:t>
            </a:r>
            <a:endParaRPr lang="en-ID" sz="3200" dirty="0">
              <a:solidFill>
                <a:srgbClr val="56091F"/>
              </a:solidFill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063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5962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2" y="0"/>
                </a:lnTo>
                <a:lnTo>
                  <a:pt x="13194772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10188348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4" name="Group 4"/>
          <p:cNvGrpSpPr/>
          <p:nvPr/>
        </p:nvGrpSpPr>
        <p:grpSpPr>
          <a:xfrm>
            <a:off x="1028700" y="3768297"/>
            <a:ext cx="16230600" cy="5490003"/>
            <a:chOff x="0" y="0"/>
            <a:chExt cx="4274726" cy="14459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1445927"/>
            </a:xfrm>
            <a:custGeom>
              <a:avLst/>
              <a:gdLst/>
              <a:ahLst/>
              <a:cxnLst/>
              <a:rect l="l" t="t" r="r" b="b"/>
              <a:pathLst>
                <a:path w="4274726" h="1445927">
                  <a:moveTo>
                    <a:pt x="15741" y="0"/>
                  </a:moveTo>
                  <a:lnTo>
                    <a:pt x="4258985" y="0"/>
                  </a:lnTo>
                  <a:cubicBezTo>
                    <a:pt x="4267679" y="0"/>
                    <a:pt x="4274726" y="7047"/>
                    <a:pt x="4274726" y="15741"/>
                  </a:cubicBezTo>
                  <a:lnTo>
                    <a:pt x="4274726" y="1430186"/>
                  </a:lnTo>
                  <a:cubicBezTo>
                    <a:pt x="4274726" y="1434361"/>
                    <a:pt x="4273067" y="1438364"/>
                    <a:pt x="4270115" y="1441316"/>
                  </a:cubicBezTo>
                  <a:cubicBezTo>
                    <a:pt x="4267164" y="1444268"/>
                    <a:pt x="4263160" y="1445927"/>
                    <a:pt x="4258985" y="1445927"/>
                  </a:cubicBezTo>
                  <a:lnTo>
                    <a:pt x="15741" y="1445927"/>
                  </a:lnTo>
                  <a:cubicBezTo>
                    <a:pt x="7047" y="1445927"/>
                    <a:pt x="0" y="1438879"/>
                    <a:pt x="0" y="1430186"/>
                  </a:cubicBezTo>
                  <a:lnTo>
                    <a:pt x="0" y="15741"/>
                  </a:lnTo>
                  <a:cubicBezTo>
                    <a:pt x="0" y="7047"/>
                    <a:pt x="7047" y="0"/>
                    <a:pt x="15741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274726" cy="15030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6778372"/>
            <a:ext cx="1902781" cy="2479928"/>
          </a:xfrm>
          <a:custGeom>
            <a:avLst/>
            <a:gdLst/>
            <a:ahLst/>
            <a:cxnLst/>
            <a:rect l="l" t="t" r="r" b="b"/>
            <a:pathLst>
              <a:path w="1902781" h="2479928">
                <a:moveTo>
                  <a:pt x="0" y="0"/>
                </a:moveTo>
                <a:lnTo>
                  <a:pt x="1902781" y="0"/>
                </a:lnTo>
                <a:lnTo>
                  <a:pt x="1902781" y="2479928"/>
                </a:lnTo>
                <a:lnTo>
                  <a:pt x="0" y="24799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Freeform 8"/>
          <p:cNvSpPr/>
          <p:nvPr/>
        </p:nvSpPr>
        <p:spPr>
          <a:xfrm flipH="1">
            <a:off x="15356519" y="6778372"/>
            <a:ext cx="1902781" cy="2479928"/>
          </a:xfrm>
          <a:custGeom>
            <a:avLst/>
            <a:gdLst/>
            <a:ahLst/>
            <a:cxnLst/>
            <a:rect l="l" t="t" r="r" b="b"/>
            <a:pathLst>
              <a:path w="1902781" h="2479928">
                <a:moveTo>
                  <a:pt x="1902781" y="0"/>
                </a:moveTo>
                <a:lnTo>
                  <a:pt x="0" y="0"/>
                </a:lnTo>
                <a:lnTo>
                  <a:pt x="0" y="2479928"/>
                </a:lnTo>
                <a:lnTo>
                  <a:pt x="1902781" y="2479928"/>
                </a:lnTo>
                <a:lnTo>
                  <a:pt x="190278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9" name="TextBox 9"/>
          <p:cNvSpPr txBox="1"/>
          <p:nvPr/>
        </p:nvSpPr>
        <p:spPr>
          <a:xfrm>
            <a:off x="1028700" y="1359592"/>
            <a:ext cx="16230600" cy="1780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24"/>
              </a:lnSpc>
            </a:pPr>
            <a:r>
              <a:rPr lang="en-US" sz="13596" spc="-285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hasil</a:t>
            </a:r>
          </a:p>
        </p:txBody>
      </p:sp>
      <p:sp>
        <p:nvSpPr>
          <p:cNvPr id="10" name="Freeform 10"/>
          <p:cNvSpPr/>
          <p:nvPr/>
        </p:nvSpPr>
        <p:spPr>
          <a:xfrm rot="-5400000" flipH="1">
            <a:off x="927244" y="3869753"/>
            <a:ext cx="2105694" cy="1902781"/>
          </a:xfrm>
          <a:custGeom>
            <a:avLst/>
            <a:gdLst/>
            <a:ahLst/>
            <a:cxnLst/>
            <a:rect l="l" t="t" r="r" b="b"/>
            <a:pathLst>
              <a:path w="2105694" h="1902781">
                <a:moveTo>
                  <a:pt x="2105693" y="0"/>
                </a:moveTo>
                <a:lnTo>
                  <a:pt x="0" y="0"/>
                </a:lnTo>
                <a:lnTo>
                  <a:pt x="0" y="1902782"/>
                </a:lnTo>
                <a:lnTo>
                  <a:pt x="2105693" y="1902782"/>
                </a:lnTo>
                <a:lnTo>
                  <a:pt x="210569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1" name="Freeform 11"/>
          <p:cNvSpPr/>
          <p:nvPr/>
        </p:nvSpPr>
        <p:spPr>
          <a:xfrm rot="-5400000" flipH="1" flipV="1">
            <a:off x="15220424" y="3869753"/>
            <a:ext cx="2105694" cy="1902781"/>
          </a:xfrm>
          <a:custGeom>
            <a:avLst/>
            <a:gdLst/>
            <a:ahLst/>
            <a:cxnLst/>
            <a:rect l="l" t="t" r="r" b="b"/>
            <a:pathLst>
              <a:path w="2105694" h="1902781">
                <a:moveTo>
                  <a:pt x="2105693" y="1902782"/>
                </a:moveTo>
                <a:lnTo>
                  <a:pt x="0" y="1902782"/>
                </a:lnTo>
                <a:lnTo>
                  <a:pt x="0" y="0"/>
                </a:lnTo>
                <a:lnTo>
                  <a:pt x="2105693" y="0"/>
                </a:lnTo>
                <a:lnTo>
                  <a:pt x="2105693" y="190278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2" name="TextBox 12"/>
          <p:cNvSpPr txBox="1"/>
          <p:nvPr/>
        </p:nvSpPr>
        <p:spPr>
          <a:xfrm>
            <a:off x="2911009" y="4136309"/>
            <a:ext cx="11917610" cy="4847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1"/>
              </a:lnSpc>
            </a:pP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Pada UKK, kami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mengonfigurasi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MikroTik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RB951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dengan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IP 192.168.100.1/25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untuk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LAN dan 192.168.200.1/24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untuk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WLAN.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Konfigurasi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mencakup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IP, DHCP Server, Gateway, DNS,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serta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firewall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untuk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keamanan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. Hotspot WLAN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diaktifkan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dengan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autentikasi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username dan password,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namun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terkendala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karena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port 80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tidak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ditambahkan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dan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kesulitan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membuat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voucher internet.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Keamanan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ditingkatkan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dengan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pemblokiran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situs dan IP.</a:t>
            </a:r>
            <a:endParaRPr lang="en-US" sz="3399" b="1" spc="-50" dirty="0">
              <a:solidFill>
                <a:srgbClr val="56091F"/>
              </a:solidFill>
              <a:latin typeface="Franklin Gothic Heavy" panose="020B0903020102020204" pitchFamily="34" charset="0"/>
              <a:ea typeface="Poppins Semi-Bold"/>
              <a:cs typeface="Poppins Semi-Bold"/>
              <a:sym typeface="Poppins Semi-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5963" y="-1460141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2" y="0"/>
                </a:lnTo>
                <a:lnTo>
                  <a:pt x="13194772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10188348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 rot="-1879893" flipH="1">
            <a:off x="13427709" y="787168"/>
            <a:ext cx="2525047" cy="3588569"/>
          </a:xfrm>
          <a:custGeom>
            <a:avLst/>
            <a:gdLst/>
            <a:ahLst/>
            <a:cxnLst/>
            <a:rect l="l" t="t" r="r" b="b"/>
            <a:pathLst>
              <a:path w="2525047" h="3588569">
                <a:moveTo>
                  <a:pt x="2525048" y="0"/>
                </a:moveTo>
                <a:lnTo>
                  <a:pt x="0" y="0"/>
                </a:lnTo>
                <a:lnTo>
                  <a:pt x="0" y="3588569"/>
                </a:lnTo>
                <a:lnTo>
                  <a:pt x="2525048" y="3588569"/>
                </a:lnTo>
                <a:lnTo>
                  <a:pt x="252504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TextBox 5"/>
          <p:cNvSpPr txBox="1"/>
          <p:nvPr/>
        </p:nvSpPr>
        <p:spPr>
          <a:xfrm>
            <a:off x="4737391" y="1708385"/>
            <a:ext cx="10901913" cy="1746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16"/>
              </a:lnSpc>
            </a:pPr>
            <a:r>
              <a:rPr lang="en-US" sz="13596" spc="-285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kesimpulan</a:t>
            </a:r>
            <a:endParaRPr lang="en-US" sz="13596" spc="-285" dirty="0">
              <a:solidFill>
                <a:srgbClr val="F9AABB"/>
              </a:solidFill>
              <a:latin typeface="EFCO Brookshire"/>
              <a:ea typeface="EFCO Brookshire"/>
              <a:cs typeface="EFCO Brookshire"/>
              <a:sym typeface="EFCO Brookshire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586345" y="4166816"/>
            <a:ext cx="15406422" cy="5250706"/>
            <a:chOff x="0" y="0"/>
            <a:chExt cx="4057659" cy="13829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57659" cy="1382902"/>
            </a:xfrm>
            <a:custGeom>
              <a:avLst/>
              <a:gdLst/>
              <a:ahLst/>
              <a:cxnLst/>
              <a:rect l="l" t="t" r="r" b="b"/>
              <a:pathLst>
                <a:path w="4057659" h="1382902">
                  <a:moveTo>
                    <a:pt x="15578" y="0"/>
                  </a:moveTo>
                  <a:lnTo>
                    <a:pt x="4042081" y="0"/>
                  </a:lnTo>
                  <a:cubicBezTo>
                    <a:pt x="4046212" y="0"/>
                    <a:pt x="4050174" y="1641"/>
                    <a:pt x="4053096" y="4563"/>
                  </a:cubicBezTo>
                  <a:cubicBezTo>
                    <a:pt x="4056017" y="7484"/>
                    <a:pt x="4057659" y="11446"/>
                    <a:pt x="4057659" y="15578"/>
                  </a:cubicBezTo>
                  <a:lnTo>
                    <a:pt x="4057659" y="1367324"/>
                  </a:lnTo>
                  <a:cubicBezTo>
                    <a:pt x="4057659" y="1371456"/>
                    <a:pt x="4056017" y="1375418"/>
                    <a:pt x="4053096" y="1378340"/>
                  </a:cubicBezTo>
                  <a:cubicBezTo>
                    <a:pt x="4050174" y="1381261"/>
                    <a:pt x="4046212" y="1382902"/>
                    <a:pt x="4042081" y="1382902"/>
                  </a:cubicBezTo>
                  <a:lnTo>
                    <a:pt x="15578" y="1382902"/>
                  </a:lnTo>
                  <a:cubicBezTo>
                    <a:pt x="11446" y="1382902"/>
                    <a:pt x="7484" y="1381261"/>
                    <a:pt x="4563" y="1378340"/>
                  </a:cubicBezTo>
                  <a:cubicBezTo>
                    <a:pt x="1641" y="1375418"/>
                    <a:pt x="0" y="1371456"/>
                    <a:pt x="0" y="1367324"/>
                  </a:cubicBezTo>
                  <a:lnTo>
                    <a:pt x="0" y="15578"/>
                  </a:lnTo>
                  <a:cubicBezTo>
                    <a:pt x="0" y="11446"/>
                    <a:pt x="1641" y="7484"/>
                    <a:pt x="4563" y="4563"/>
                  </a:cubicBezTo>
                  <a:cubicBezTo>
                    <a:pt x="7484" y="1641"/>
                    <a:pt x="11446" y="0"/>
                    <a:pt x="15578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057659" cy="1440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081056" y="4490733"/>
            <a:ext cx="11578213" cy="387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Hasil UKK:</a:t>
            </a:r>
          </a:p>
          <a:p>
            <a:pPr>
              <a:buFont typeface="+mj-lt"/>
              <a:buAutoNum type="arabicPeriod"/>
            </a:pP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Konfigurasi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MikroTik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RB951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sukses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dengan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IP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lokal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&amp; WLAN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stabil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Hotspot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berfungsi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dengan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autentikasi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,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meski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sempat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terkendala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port 80.</a:t>
            </a:r>
          </a:p>
          <a:p>
            <a:pPr>
              <a:buFont typeface="+mj-lt"/>
              <a:buAutoNum type="arabicPeriod"/>
            </a:pP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Voucer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internet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gagal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, hotspot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hanya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mendukung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login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biasa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5962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2" y="0"/>
                </a:lnTo>
                <a:lnTo>
                  <a:pt x="13194772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10188348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4" name="Group 4"/>
          <p:cNvGrpSpPr/>
          <p:nvPr/>
        </p:nvGrpSpPr>
        <p:grpSpPr>
          <a:xfrm>
            <a:off x="4031664" y="1028700"/>
            <a:ext cx="9901277" cy="2161822"/>
            <a:chOff x="0" y="0"/>
            <a:chExt cx="2607744" cy="5693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07744" cy="569369"/>
            </a:xfrm>
            <a:custGeom>
              <a:avLst/>
              <a:gdLst/>
              <a:ahLst/>
              <a:cxnLst/>
              <a:rect l="l" t="t" r="r" b="b"/>
              <a:pathLst>
                <a:path w="2607744" h="569369">
                  <a:moveTo>
                    <a:pt x="25803" y="0"/>
                  </a:moveTo>
                  <a:lnTo>
                    <a:pt x="2581941" y="0"/>
                  </a:lnTo>
                  <a:cubicBezTo>
                    <a:pt x="2596191" y="0"/>
                    <a:pt x="2607744" y="11552"/>
                    <a:pt x="2607744" y="25803"/>
                  </a:cubicBezTo>
                  <a:lnTo>
                    <a:pt x="2607744" y="543566"/>
                  </a:lnTo>
                  <a:cubicBezTo>
                    <a:pt x="2607744" y="557816"/>
                    <a:pt x="2596191" y="569369"/>
                    <a:pt x="2581941" y="569369"/>
                  </a:cubicBezTo>
                  <a:lnTo>
                    <a:pt x="25803" y="569369"/>
                  </a:lnTo>
                  <a:cubicBezTo>
                    <a:pt x="18960" y="569369"/>
                    <a:pt x="12397" y="566650"/>
                    <a:pt x="7558" y="561811"/>
                  </a:cubicBezTo>
                  <a:cubicBezTo>
                    <a:pt x="2719" y="556972"/>
                    <a:pt x="0" y="550409"/>
                    <a:pt x="0" y="543566"/>
                  </a:cubicBezTo>
                  <a:lnTo>
                    <a:pt x="0" y="25803"/>
                  </a:lnTo>
                  <a:cubicBezTo>
                    <a:pt x="0" y="11552"/>
                    <a:pt x="11552" y="0"/>
                    <a:pt x="25803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607744" cy="6265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00000" flipV="1">
            <a:off x="11865399" y="1132861"/>
            <a:ext cx="2161822" cy="1953501"/>
          </a:xfrm>
          <a:custGeom>
            <a:avLst/>
            <a:gdLst/>
            <a:ahLst/>
            <a:cxnLst/>
            <a:rect l="l" t="t" r="r" b="b"/>
            <a:pathLst>
              <a:path w="2161822" h="1953501">
                <a:moveTo>
                  <a:pt x="0" y="1953500"/>
                </a:moveTo>
                <a:lnTo>
                  <a:pt x="2161822" y="1953500"/>
                </a:lnTo>
                <a:lnTo>
                  <a:pt x="2161822" y="0"/>
                </a:lnTo>
                <a:lnTo>
                  <a:pt x="0" y="0"/>
                </a:lnTo>
                <a:lnTo>
                  <a:pt x="0" y="19535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Freeform 8"/>
          <p:cNvSpPr/>
          <p:nvPr/>
        </p:nvSpPr>
        <p:spPr>
          <a:xfrm rot="-5400000" flipH="1">
            <a:off x="3927503" y="1132861"/>
            <a:ext cx="2161822" cy="1953501"/>
          </a:xfrm>
          <a:custGeom>
            <a:avLst/>
            <a:gdLst/>
            <a:ahLst/>
            <a:cxnLst/>
            <a:rect l="l" t="t" r="r" b="b"/>
            <a:pathLst>
              <a:path w="2161822" h="1953501">
                <a:moveTo>
                  <a:pt x="2161822" y="0"/>
                </a:moveTo>
                <a:lnTo>
                  <a:pt x="0" y="0"/>
                </a:lnTo>
                <a:lnTo>
                  <a:pt x="0" y="1953500"/>
                </a:lnTo>
                <a:lnTo>
                  <a:pt x="2161822" y="1953500"/>
                </a:lnTo>
                <a:lnTo>
                  <a:pt x="216182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9" name="TextBox 9"/>
          <p:cNvSpPr txBox="1"/>
          <p:nvPr/>
        </p:nvSpPr>
        <p:spPr>
          <a:xfrm>
            <a:off x="4525032" y="1495425"/>
            <a:ext cx="8513677" cy="1602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20"/>
              </a:lnSpc>
            </a:pPr>
            <a:r>
              <a:rPr lang="en-US" sz="13596" spc="-285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saran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xmlns="" id="{B48142EB-59CC-F443-2E97-5AC13E860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518946"/>
            <a:ext cx="161544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Agar UKK dan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pemahaman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siswa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lebih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baik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,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disarankan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Menambah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praktik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langsung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dengan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simulasi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/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studi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kasus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 dunia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kerja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Meningkatkan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fasilitas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laboratorium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dengan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perangkat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 yang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lebih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 modern.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5962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2" y="0"/>
                </a:lnTo>
                <a:lnTo>
                  <a:pt x="13194772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10188348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-3006407" y="-3159170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0"/>
                </a:moveTo>
                <a:lnTo>
                  <a:pt x="7610491" y="0"/>
                </a:lnTo>
                <a:lnTo>
                  <a:pt x="7610491" y="6877116"/>
                </a:lnTo>
                <a:lnTo>
                  <a:pt x="0" y="68771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 rot="-6051617" flipV="1">
            <a:off x="14482755" y="6251447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6877115"/>
                </a:moveTo>
                <a:lnTo>
                  <a:pt x="7610490" y="6877115"/>
                </a:lnTo>
                <a:lnTo>
                  <a:pt x="7610490" y="0"/>
                </a:lnTo>
                <a:lnTo>
                  <a:pt x="0" y="0"/>
                </a:lnTo>
                <a:lnTo>
                  <a:pt x="0" y="687711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1311168" y="746335"/>
            <a:ext cx="15665663" cy="8943670"/>
          </a:xfrm>
          <a:custGeom>
            <a:avLst/>
            <a:gdLst/>
            <a:ahLst/>
            <a:cxnLst/>
            <a:rect l="l" t="t" r="r" b="b"/>
            <a:pathLst>
              <a:path w="15665663" h="8943670">
                <a:moveTo>
                  <a:pt x="0" y="0"/>
                </a:moveTo>
                <a:lnTo>
                  <a:pt x="15665664" y="0"/>
                </a:lnTo>
                <a:lnTo>
                  <a:pt x="15665664" y="8943669"/>
                </a:lnTo>
                <a:lnTo>
                  <a:pt x="0" y="89436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TextBox 7"/>
          <p:cNvSpPr txBox="1"/>
          <p:nvPr/>
        </p:nvSpPr>
        <p:spPr>
          <a:xfrm>
            <a:off x="3416555" y="3672115"/>
            <a:ext cx="11454889" cy="2941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2"/>
              </a:lnSpc>
            </a:pPr>
            <a:r>
              <a:rPr lang="en-US" sz="17187" spc="-360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Thankyou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732843" y="3037225"/>
            <a:ext cx="2822313" cy="680721"/>
            <a:chOff x="0" y="0"/>
            <a:chExt cx="812800" cy="19604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96041"/>
            </a:xfrm>
            <a:custGeom>
              <a:avLst/>
              <a:gdLst/>
              <a:ahLst/>
              <a:cxnLst/>
              <a:rect l="l" t="t" r="r" b="b"/>
              <a:pathLst>
                <a:path w="812800" h="196041">
                  <a:moveTo>
                    <a:pt x="98021" y="0"/>
                  </a:moveTo>
                  <a:lnTo>
                    <a:pt x="714779" y="0"/>
                  </a:lnTo>
                  <a:cubicBezTo>
                    <a:pt x="740776" y="0"/>
                    <a:pt x="765708" y="10327"/>
                    <a:pt x="784090" y="28710"/>
                  </a:cubicBezTo>
                  <a:cubicBezTo>
                    <a:pt x="802473" y="47092"/>
                    <a:pt x="812800" y="72024"/>
                    <a:pt x="812800" y="98021"/>
                  </a:cubicBezTo>
                  <a:lnTo>
                    <a:pt x="812800" y="98021"/>
                  </a:lnTo>
                  <a:cubicBezTo>
                    <a:pt x="812800" y="152156"/>
                    <a:pt x="768915" y="196041"/>
                    <a:pt x="714779" y="196041"/>
                  </a:cubicBezTo>
                  <a:lnTo>
                    <a:pt x="98021" y="196041"/>
                  </a:lnTo>
                  <a:cubicBezTo>
                    <a:pt x="72024" y="196041"/>
                    <a:pt x="47092" y="185714"/>
                    <a:pt x="28710" y="167332"/>
                  </a:cubicBezTo>
                  <a:cubicBezTo>
                    <a:pt x="10327" y="148949"/>
                    <a:pt x="0" y="124017"/>
                    <a:pt x="0" y="98021"/>
                  </a:cubicBezTo>
                  <a:lnTo>
                    <a:pt x="0" y="98021"/>
                  </a:lnTo>
                  <a:cubicBezTo>
                    <a:pt x="0" y="72024"/>
                    <a:pt x="10327" y="47092"/>
                    <a:pt x="28710" y="28710"/>
                  </a:cubicBezTo>
                  <a:cubicBezTo>
                    <a:pt x="47092" y="10327"/>
                    <a:pt x="72024" y="0"/>
                    <a:pt x="98021" y="0"/>
                  </a:cubicBezTo>
                  <a:close/>
                </a:path>
              </a:pathLst>
            </a:custGeom>
            <a:solidFill>
              <a:srgbClr val="F9AABB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812800" cy="2531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56091F"/>
                  </a:solidFill>
                  <a:latin typeface="Poppins"/>
                  <a:ea typeface="Poppins"/>
                  <a:cs typeface="Poppins"/>
                  <a:sym typeface="Poppins"/>
                </a:rPr>
                <a:t>@reallygreatsite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724</Words>
  <Application>Microsoft Office PowerPoint</Application>
  <PresentationFormat>Custom</PresentationFormat>
  <Paragraphs>103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8" baseType="lpstr">
      <vt:lpstr>Poppins</vt:lpstr>
      <vt:lpstr>Amasis MT Pro Black</vt:lpstr>
      <vt:lpstr>Arial</vt:lpstr>
      <vt:lpstr>EFCO Brookshire</vt:lpstr>
      <vt:lpstr>Trade Gothic Next HvyCd</vt:lpstr>
      <vt:lpstr>Trade Gothic Next Heavy</vt:lpstr>
      <vt:lpstr>Poppins Semi-Bold</vt:lpstr>
      <vt:lpstr>Montaser Arabic</vt:lpstr>
      <vt:lpstr>Calibri</vt:lpstr>
      <vt:lpstr>Times New Roman</vt:lpstr>
      <vt:lpstr>Franklin Gothic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Pink and White Illustrative Daily Agenda Presentation</dc:title>
  <dc:creator>AMBATUKAM</dc:creator>
  <cp:lastModifiedBy>alfinbudiyanto</cp:lastModifiedBy>
  <cp:revision>12</cp:revision>
  <dcterms:created xsi:type="dcterms:W3CDTF">2006-08-16T00:00:00Z</dcterms:created>
  <dcterms:modified xsi:type="dcterms:W3CDTF">2025-02-18T20:09:13Z</dcterms:modified>
  <dc:identifier>DAGfCYwp8-E</dc:identifier>
</cp:coreProperties>
</file>